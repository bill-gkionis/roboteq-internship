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62" r:id="rId5"/>
    <p:sldId id="260" r:id="rId6"/>
    <p:sldId id="263" r:id="rId7"/>
    <p:sldId id="264" r:id="rId8"/>
    <p:sldId id="266" r:id="rId9"/>
    <p:sldId id="267" r:id="rId10"/>
    <p:sldId id="265" r:id="rId11"/>
    <p:sldId id="272" r:id="rId12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/>
    <p:restoredTop sz="94677"/>
  </p:normalViewPr>
  <p:slideViewPr>
    <p:cSldViewPr snapToGrid="0">
      <p:cViewPr>
        <p:scale>
          <a:sx n="195" d="100"/>
          <a:sy n="195" d="100"/>
        </p:scale>
        <p:origin x="20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0683-2DD8-015C-9C88-643CF1AB8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C503F-2DB5-FE07-0FEC-64B8D5D23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D9F4E-20C6-2361-A8B5-0E9592FB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2A5D2-7093-EA82-67F9-09A71C48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B6E86-29D6-432C-E8AE-726CB0331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2792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E08A0-AD0B-C573-0C33-BDE3554F2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6F4CC-8FB5-9E7C-D7E0-07B672480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E5F14-1B54-6AE2-A8D9-FAEC67065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B4F64-8165-13E2-0D40-EE03C6573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6632A-BF3C-B51F-A102-A1C051F8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730965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875ED-F515-BBAC-959B-37B36518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76792-DA82-B497-D97A-C923CBE85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A84C8-2EC5-E5A1-3723-6F4CAFDA3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C7730-BBEB-D2A6-1847-CF4CEF9A6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5C6C2-3302-239A-81D6-60DBC5B0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4794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556C-A74F-AC87-03F8-D660275D7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F6F0E-2820-AAE1-E532-55CE5565E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15929-ADFB-E233-640C-42AB4C970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54F4-A281-1B9C-57BE-9B6BD74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C26CC-D74C-9B04-6C8A-CC40BC5BE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5D72C-FA99-C83B-D6DC-2766B71D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911518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5717-568D-862C-AE3F-36ADAE2C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59747-7004-7545-616D-CB6056CFE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35E72-C879-ADFC-8347-9A56C5A23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D2A11-F396-534A-ADB2-B2966D639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A1659-B367-1FD5-12AD-DDDEC25EE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8BD57-A804-3E87-12A5-9A34BFBB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961BA7-7C2F-BB8B-CE4D-4D0659DA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70A735-186A-7269-228A-269B2CE5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3089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A918-241A-80A9-0ACC-F2BA6490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E3A7F-C8A4-B952-1D63-F2526B4C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6786F-7F7A-5583-893B-9401284E3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B3EA68-BA75-E6B5-265A-2200A760B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47466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9097CC-57EE-C07E-0E89-303C1C093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04A3F-D7A3-3A8D-D058-865FDCD5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5A2C6-9E3D-4AA1-8FD6-C70C532B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3538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2072-2651-5FF1-8DEC-1D1ECBFCB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056ED-146B-5ABB-83C6-C6120BB8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8DBF3-0AC7-E34E-1631-A68EEE130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18E7A-1D76-2B52-3230-D479AB87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DED0C-1F72-8DD7-1078-944C6EC8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DBB5F-6028-C9B8-6EDF-E0886981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21477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6AFD-1FC6-7D02-3995-74734124E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60A64-661D-469C-E91C-E815D1BD7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28AFC-3AE8-C369-A958-BBCD25262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D9C7B-615C-B58B-EAE4-98EA1073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B4A18-55BC-AD99-83EB-67D7CC97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88A6D-01A2-70D1-16AE-DAAC3CB54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2305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F336A-3FF0-DEE7-AEE5-0A1E24EC7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6DA66-2B54-79B4-0596-4C3A9C513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468FD-6D90-6BF1-5707-E7DF4E130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4C8C5-208B-C422-944D-9EF3C1D3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E2ACF-5A49-94D4-E897-E2A6A325A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83749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25EDA9-7E75-E233-52BD-04DA3DDA2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1E243-EBA3-776D-AE55-E4F12CFE8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66CD8-1161-7473-0C21-241BB650E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E210-A201-DB94-1240-7D94836F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B73C7-7786-CE87-796A-685314C74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2923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41769-5717-9DEE-48DA-ECDF06B0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94A33-84E8-ED03-CE8A-9C3341BAE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D566C-DBB8-935C-CBAF-6CADC1C07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EECF8-A05F-9240-BE67-E448B856098A}" type="datetimeFigureOut">
              <a:rPr lang="en-GR" smtClean="0"/>
              <a:t>23/7/26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9708-2C51-A893-1446-76B7D45B6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76ABD-6D78-33D8-1AD2-C9FBC6021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2465A-8FB0-6A4D-BE25-4295F8421AF9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62950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91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C096222-B653-1296-BA1F-1277552B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Jacket Chamber</a:t>
            </a:r>
            <a:endParaRPr lang="el-GR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D714D51E-7BDD-BFCB-382E-6FF288C54211}"/>
              </a:ext>
            </a:extLst>
          </p:cNvPr>
          <p:cNvSpPr/>
          <p:nvPr/>
        </p:nvSpPr>
        <p:spPr>
          <a:xfrm>
            <a:off x="2148469" y="2276087"/>
            <a:ext cx="3947531" cy="3233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1A4EE32C-74A0-4A76-6AF5-E4C750DD3348}"/>
              </a:ext>
            </a:extLst>
          </p:cNvPr>
          <p:cNvSpPr/>
          <p:nvPr/>
        </p:nvSpPr>
        <p:spPr>
          <a:xfrm>
            <a:off x="2850995" y="2644077"/>
            <a:ext cx="2548053" cy="1940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DB7B9A97-428C-8F70-2F96-6EC858596E61}"/>
              </a:ext>
            </a:extLst>
          </p:cNvPr>
          <p:cNvCxnSpPr/>
          <p:nvPr/>
        </p:nvCxnSpPr>
        <p:spPr>
          <a:xfrm>
            <a:off x="3486615" y="3614233"/>
            <a:ext cx="1326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62AEC2D3-B49A-2793-9B9D-877BCB075D00}"/>
              </a:ext>
            </a:extLst>
          </p:cNvPr>
          <p:cNvSpPr/>
          <p:nvPr/>
        </p:nvSpPr>
        <p:spPr>
          <a:xfrm>
            <a:off x="3367053" y="3891777"/>
            <a:ext cx="830765" cy="5464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44C93D-928B-4502-49F4-C5801B48A231}"/>
              </a:ext>
            </a:extLst>
          </p:cNvPr>
          <p:cNvSpPr txBox="1"/>
          <p:nvPr/>
        </p:nvSpPr>
        <p:spPr>
          <a:xfrm>
            <a:off x="3447898" y="3991465"/>
            <a:ext cx="669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DUT</a:t>
            </a:r>
            <a:endParaRPr lang="el-GR" b="1" dirty="0"/>
          </a:p>
        </p:txBody>
      </p:sp>
      <p:sp>
        <p:nvSpPr>
          <p:cNvPr id="10" name="Έλλειψη 9">
            <a:extLst>
              <a:ext uri="{FF2B5EF4-FFF2-40B4-BE49-F238E27FC236}">
                <a16:creationId xmlns:a16="http://schemas.microsoft.com/office/drawing/2014/main" id="{BA87025C-73BD-2311-8273-A559E1B0A4ED}"/>
              </a:ext>
            </a:extLst>
          </p:cNvPr>
          <p:cNvSpPr/>
          <p:nvPr/>
        </p:nvSpPr>
        <p:spPr>
          <a:xfrm>
            <a:off x="4738494" y="2883208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Έλλειψη 10">
            <a:extLst>
              <a:ext uri="{FF2B5EF4-FFF2-40B4-BE49-F238E27FC236}">
                <a16:creationId xmlns:a16="http://schemas.microsoft.com/office/drawing/2014/main" id="{C5E0002E-8118-98A6-DB1C-0952FD9B88D7}"/>
              </a:ext>
            </a:extLst>
          </p:cNvPr>
          <p:cNvSpPr/>
          <p:nvPr/>
        </p:nvSpPr>
        <p:spPr>
          <a:xfrm>
            <a:off x="4738494" y="3039326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Έλλειψη 12">
            <a:extLst>
              <a:ext uri="{FF2B5EF4-FFF2-40B4-BE49-F238E27FC236}">
                <a16:creationId xmlns:a16="http://schemas.microsoft.com/office/drawing/2014/main" id="{2860D69D-F76D-FB37-D5BD-E72198CED76E}"/>
              </a:ext>
            </a:extLst>
          </p:cNvPr>
          <p:cNvSpPr/>
          <p:nvPr/>
        </p:nvSpPr>
        <p:spPr>
          <a:xfrm>
            <a:off x="5229923" y="4866568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Έλλειψη 13">
            <a:extLst>
              <a:ext uri="{FF2B5EF4-FFF2-40B4-BE49-F238E27FC236}">
                <a16:creationId xmlns:a16="http://schemas.microsoft.com/office/drawing/2014/main" id="{E9D49909-6F18-C835-7452-A8912BE32EEC}"/>
              </a:ext>
            </a:extLst>
          </p:cNvPr>
          <p:cNvSpPr/>
          <p:nvPr/>
        </p:nvSpPr>
        <p:spPr>
          <a:xfrm>
            <a:off x="5229923" y="5022686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1" name="Resistor heater (i)"/>
          <p:cNvSpPr/>
          <p:nvPr/>
        </p:nvSpPr>
        <p:spPr>
          <a:xfrm>
            <a:off x="4353476" y="4117858"/>
            <a:ext cx="787400" cy="203200"/>
          </a:xfrm>
          <a:custGeom>
            <a:avLst/>
            <a:gdLst/>
            <a:ahLst/>
            <a:cxnLst/>
            <a:rect l="0" t="0" r="1000" b="300"/>
            <a:pathLst>
              <a:path w="1000" h="300" fill="none">
                <a:moveTo>
                  <a:pt x="0" y="150"/>
                </a:moveTo>
                <a:lnTo>
                  <a:pt x="125" y="150"/>
                </a:lnTo>
                <a:lnTo>
                  <a:pt x="200" y="0"/>
                </a:lnTo>
                <a:lnTo>
                  <a:pt x="350" y="300"/>
                </a:lnTo>
                <a:lnTo>
                  <a:pt x="500" y="0"/>
                </a:lnTo>
                <a:lnTo>
                  <a:pt x="650" y="300"/>
                </a:lnTo>
                <a:lnTo>
                  <a:pt x="800" y="0"/>
                </a:lnTo>
                <a:lnTo>
                  <a:pt x="875" y="150"/>
                </a:lnTo>
                <a:lnTo>
                  <a:pt x="1000" y="15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22" name="Resistor heater (e)"/>
          <p:cNvSpPr/>
          <p:nvPr/>
        </p:nvSpPr>
        <p:spPr>
          <a:xfrm>
            <a:off x="4046654" y="4958575"/>
            <a:ext cx="787400" cy="203200"/>
          </a:xfrm>
          <a:custGeom>
            <a:avLst/>
            <a:gdLst/>
            <a:ahLst/>
            <a:cxnLst/>
            <a:rect l="0" t="0" r="1000" b="300"/>
            <a:pathLst>
              <a:path w="1000" h="300" fill="none">
                <a:moveTo>
                  <a:pt x="0" y="150"/>
                </a:moveTo>
                <a:lnTo>
                  <a:pt x="125" y="150"/>
                </a:lnTo>
                <a:lnTo>
                  <a:pt x="200" y="0"/>
                </a:lnTo>
                <a:lnTo>
                  <a:pt x="350" y="300"/>
                </a:lnTo>
                <a:lnTo>
                  <a:pt x="500" y="0"/>
                </a:lnTo>
                <a:lnTo>
                  <a:pt x="650" y="300"/>
                </a:lnTo>
                <a:lnTo>
                  <a:pt x="800" y="0"/>
                </a:lnTo>
                <a:lnTo>
                  <a:pt x="875" y="150"/>
                </a:lnTo>
                <a:lnTo>
                  <a:pt x="1000" y="15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12" name="Καμπύλο αριστερό βέλος 11">
            <a:extLst>
              <a:ext uri="{FF2B5EF4-FFF2-40B4-BE49-F238E27FC236}">
                <a16:creationId xmlns:a16="http://schemas.microsoft.com/office/drawing/2014/main" id="{BF6620EE-B03B-4E72-C77D-F4A569B0BB97}"/>
              </a:ext>
            </a:extLst>
          </p:cNvPr>
          <p:cNvSpPr/>
          <p:nvPr/>
        </p:nvSpPr>
        <p:spPr>
          <a:xfrm>
            <a:off x="5036635" y="3014882"/>
            <a:ext cx="237893" cy="105467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sp>
        <p:nvSpPr>
          <p:cNvPr id="15" name="Καμπύλο αριστερό βέλος 14">
            <a:extLst>
              <a:ext uri="{FF2B5EF4-FFF2-40B4-BE49-F238E27FC236}">
                <a16:creationId xmlns:a16="http://schemas.microsoft.com/office/drawing/2014/main" id="{704C494E-855B-FB3E-A4A5-B10B93508C16}"/>
              </a:ext>
            </a:extLst>
          </p:cNvPr>
          <p:cNvSpPr/>
          <p:nvPr/>
        </p:nvSpPr>
        <p:spPr>
          <a:xfrm rot="10800000">
            <a:off x="2960495" y="3008650"/>
            <a:ext cx="237893" cy="1054677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3" name="Radiator"/>
          <p:cNvSpPr/>
          <p:nvPr/>
        </p:nvSpPr>
        <p:spPr>
          <a:xfrm>
            <a:off x="3356674" y="1993909"/>
            <a:ext cx="1257300" cy="1231900"/>
          </a:xfrm>
          <a:custGeom>
            <a:avLst/>
            <a:gdLst/>
            <a:ahLst/>
            <a:cxnLst/>
            <a:rect l="0" t="0" r="990" b="970"/>
            <a:pathLst>
              <a:path w="990" h="970" fill="none">
                <a:moveTo>
                  <a:pt x="0" y="0"/>
                </a:moveTo>
                <a:lnTo>
                  <a:pt x="0" y="925"/>
                </a:lnTo>
                <a:arcTo wR="45" hR="45" stAng="10800000" swAng="-10800000"/>
                <a:lnTo>
                  <a:pt x="90" y="755"/>
                </a:lnTo>
                <a:arcTo wR="45" hR="45" stAng="10800000" swAng="10800000"/>
                <a:lnTo>
                  <a:pt x="180" y="925"/>
                </a:lnTo>
                <a:arcTo wR="45" hR="45" stAng="10800000" swAng="-10800000"/>
                <a:lnTo>
                  <a:pt x="270" y="755"/>
                </a:lnTo>
                <a:arcTo wR="45" hR="45" stAng="10800000" swAng="10800000"/>
                <a:lnTo>
                  <a:pt x="360" y="925"/>
                </a:lnTo>
                <a:arcTo wR="45" hR="45" stAng="10800000" swAng="-10800000"/>
                <a:lnTo>
                  <a:pt x="450" y="755"/>
                </a:lnTo>
                <a:arcTo wR="45" hR="45" stAng="10800000" swAng="10800000"/>
                <a:lnTo>
                  <a:pt x="540" y="925"/>
                </a:lnTo>
                <a:arcTo wR="45" hR="45" stAng="10800000" swAng="-10800000"/>
                <a:lnTo>
                  <a:pt x="630" y="755"/>
                </a:lnTo>
                <a:arcTo wR="45" hR="45" stAng="10800000" swAng="10800000"/>
                <a:lnTo>
                  <a:pt x="720" y="925"/>
                </a:lnTo>
                <a:arcTo wR="45" hR="45" stAng="10800000" swAng="-10800000"/>
                <a:lnTo>
                  <a:pt x="810" y="755"/>
                </a:lnTo>
                <a:arcTo wR="45" hR="45" stAng="10800000" swAng="10800000"/>
                <a:lnTo>
                  <a:pt x="900" y="925"/>
                </a:lnTo>
                <a:arcTo wR="45" hR="45" stAng="10800000" swAng="-10800000"/>
                <a:lnTo>
                  <a:pt x="99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6" name="Καμπύλο αριστερό βέλος 5">
            <a:extLst>
              <a:ext uri="{FF2B5EF4-FFF2-40B4-BE49-F238E27FC236}">
                <a16:creationId xmlns:a16="http://schemas.microsoft.com/office/drawing/2014/main" id="{C6249B7E-9AEB-FECE-8D73-32E3C2C11E8F}"/>
              </a:ext>
            </a:extLst>
          </p:cNvPr>
          <p:cNvSpPr/>
          <p:nvPr/>
        </p:nvSpPr>
        <p:spPr>
          <a:xfrm rot="10800000">
            <a:off x="2334042" y="2364115"/>
            <a:ext cx="367630" cy="2885688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6" name="Καμπύλο αριστερό βέλος 15">
            <a:extLst>
              <a:ext uri="{FF2B5EF4-FFF2-40B4-BE49-F238E27FC236}">
                <a16:creationId xmlns:a16="http://schemas.microsoft.com/office/drawing/2014/main" id="{33D7070D-0756-1043-673D-1DCA85C2F908}"/>
              </a:ext>
            </a:extLst>
          </p:cNvPr>
          <p:cNvSpPr/>
          <p:nvPr/>
        </p:nvSpPr>
        <p:spPr>
          <a:xfrm>
            <a:off x="5601241" y="2448933"/>
            <a:ext cx="367630" cy="2885688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cxnSp>
        <p:nvCxnSpPr>
          <p:cNvPr id="18" name="Ευθύγραμμο βέλος σύνδεσης 17">
            <a:extLst>
              <a:ext uri="{FF2B5EF4-FFF2-40B4-BE49-F238E27FC236}">
                <a16:creationId xmlns:a16="http://schemas.microsoft.com/office/drawing/2014/main" id="{12767D90-F329-1804-39A3-2BFEB7A4B834}"/>
              </a:ext>
            </a:extLst>
          </p:cNvPr>
          <p:cNvCxnSpPr/>
          <p:nvPr/>
        </p:nvCxnSpPr>
        <p:spPr>
          <a:xfrm>
            <a:off x="3198388" y="4438184"/>
            <a:ext cx="0" cy="58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14BCFC8-3753-17B6-A790-80B2FC90269A}"/>
              </a:ext>
            </a:extLst>
          </p:cNvPr>
          <p:cNvSpPr txBox="1"/>
          <p:nvPr/>
        </p:nvSpPr>
        <p:spPr>
          <a:xfrm>
            <a:off x="3192244" y="4775676"/>
            <a:ext cx="63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leak</a:t>
            </a:r>
            <a:endParaRPr lang="el-GR" baseline="-25000" dirty="0"/>
          </a:p>
        </p:txBody>
      </p:sp>
      <p:cxnSp>
        <p:nvCxnSpPr>
          <p:cNvPr id="25" name="Ευθύγραμμο βέλος σύνδεσης 24">
            <a:extLst>
              <a:ext uri="{FF2B5EF4-FFF2-40B4-BE49-F238E27FC236}">
                <a16:creationId xmlns:a16="http://schemas.microsoft.com/office/drawing/2014/main" id="{BF69047F-D663-145A-40FD-B583678CE819}"/>
              </a:ext>
            </a:extLst>
          </p:cNvPr>
          <p:cNvCxnSpPr>
            <a:cxnSpLocks/>
          </p:cNvCxnSpPr>
          <p:nvPr/>
        </p:nvCxnSpPr>
        <p:spPr>
          <a:xfrm flipH="1" flipV="1">
            <a:off x="4897860" y="5064726"/>
            <a:ext cx="257721" cy="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C3B904E-DB6F-80DF-96C4-893F6CA7F589}"/>
              </a:ext>
            </a:extLst>
          </p:cNvPr>
          <p:cNvSpPr txBox="1"/>
          <p:nvPr/>
        </p:nvSpPr>
        <p:spPr>
          <a:xfrm>
            <a:off x="3057577" y="1570004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out</a:t>
            </a:r>
            <a:endParaRPr lang="el-GR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C23CDD-EBE1-E9F1-1B60-17241DA7F329}"/>
              </a:ext>
            </a:extLst>
          </p:cNvPr>
          <p:cNvSpPr txBox="1"/>
          <p:nvPr/>
        </p:nvSpPr>
        <p:spPr>
          <a:xfrm>
            <a:off x="4197818" y="1566471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in</a:t>
            </a:r>
            <a:endParaRPr lang="el-GR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EE83FA-8F03-D2C6-3A57-C7F1F9AA97B2}"/>
              </a:ext>
            </a:extLst>
          </p:cNvPr>
          <p:cNvSpPr txBox="1"/>
          <p:nvPr/>
        </p:nvSpPr>
        <p:spPr>
          <a:xfrm>
            <a:off x="2742425" y="4992950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l-GR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7176E3-1254-A771-CE7E-C823B7807AE7}"/>
              </a:ext>
            </a:extLst>
          </p:cNvPr>
          <p:cNvSpPr txBox="1"/>
          <p:nvPr/>
        </p:nvSpPr>
        <p:spPr>
          <a:xfrm>
            <a:off x="2392906" y="5565443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a</a:t>
            </a:r>
            <a:endParaRPr lang="el-GR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274DB2-6BC9-D457-3053-FF76AAB6351B}"/>
              </a:ext>
            </a:extLst>
          </p:cNvPr>
          <p:cNvSpPr txBox="1"/>
          <p:nvPr/>
        </p:nvSpPr>
        <p:spPr>
          <a:xfrm>
            <a:off x="2832865" y="4107416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endParaRPr lang="el-GR" baseline="-25000" dirty="0"/>
          </a:p>
        </p:txBody>
      </p:sp>
      <p:cxnSp>
        <p:nvCxnSpPr>
          <p:cNvPr id="33" name="Ευθεία γραμμή σύνδεσης 32">
            <a:extLst>
              <a:ext uri="{FF2B5EF4-FFF2-40B4-BE49-F238E27FC236}">
                <a16:creationId xmlns:a16="http://schemas.microsoft.com/office/drawing/2014/main" id="{DAA7C9C4-9406-5FF6-5A4C-352A76DBCAD8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2942188" y="4490428"/>
            <a:ext cx="569794" cy="6545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Ευθεία γραμμή σύνδεσης 33">
            <a:extLst>
              <a:ext uri="{FF2B5EF4-FFF2-40B4-BE49-F238E27FC236}">
                <a16:creationId xmlns:a16="http://schemas.microsoft.com/office/drawing/2014/main" id="{1BD405E2-927F-57E2-A7EC-D7542604CA3D}"/>
              </a:ext>
            </a:extLst>
          </p:cNvPr>
          <p:cNvCxnSpPr>
            <a:cxnSpLocks/>
          </p:cNvCxnSpPr>
          <p:nvPr/>
        </p:nvCxnSpPr>
        <p:spPr>
          <a:xfrm flipH="1">
            <a:off x="2951728" y="4490428"/>
            <a:ext cx="534637" cy="6545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C0953E0-0690-A233-899A-C3C29A5B2E70}"/>
              </a:ext>
            </a:extLst>
          </p:cNvPr>
          <p:cNvSpPr txBox="1"/>
          <p:nvPr/>
        </p:nvSpPr>
        <p:spPr>
          <a:xfrm>
            <a:off x="4021170" y="5074621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heater</a:t>
            </a:r>
            <a:endParaRPr lang="el-GR" baseline="-25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0F035A-19CA-76B7-E57F-2BECB9D108CC}"/>
              </a:ext>
            </a:extLst>
          </p:cNvPr>
          <p:cNvSpPr txBox="1"/>
          <p:nvPr/>
        </p:nvSpPr>
        <p:spPr>
          <a:xfrm>
            <a:off x="4304149" y="4210204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heater</a:t>
            </a:r>
            <a:endParaRPr lang="el-GR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B549FB-73F5-A810-E1F1-11AB4492E90B}"/>
              </a:ext>
            </a:extLst>
          </p:cNvPr>
          <p:cNvSpPr txBox="1"/>
          <p:nvPr/>
        </p:nvSpPr>
        <p:spPr>
          <a:xfrm>
            <a:off x="4936833" y="5105934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fan</a:t>
            </a:r>
            <a:endParaRPr lang="el-GR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AF39D4-E3C1-B78B-E057-DA8CD202CDC2}"/>
              </a:ext>
            </a:extLst>
          </p:cNvPr>
          <p:cNvSpPr txBox="1"/>
          <p:nvPr/>
        </p:nvSpPr>
        <p:spPr>
          <a:xfrm>
            <a:off x="4540802" y="3226982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fan</a:t>
            </a:r>
            <a:endParaRPr lang="el-GR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56E809-2CEE-DD3D-8D8C-D04B27F29C81}"/>
              </a:ext>
            </a:extLst>
          </p:cNvPr>
          <p:cNvSpPr txBox="1"/>
          <p:nvPr/>
        </p:nvSpPr>
        <p:spPr>
          <a:xfrm>
            <a:off x="7636106" y="2075619"/>
            <a:ext cx="3623773" cy="17851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 Math" panose="02040503050406030204" pitchFamily="18" charset="0"/>
              </a:rPr>
              <a:t>Power Loss calculation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</a:t>
            </a:r>
            <a:r>
              <a:rPr lang="en-US" dirty="0"/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/>
              <a:t> x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US" baseline="-25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r>
              <a:rPr lang="en-US" dirty="0"/>
              <a:t> x </a:t>
            </a:r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/>
              <a:t> = coolant mass flow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US" baseline="-25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r>
              <a:rPr lang="en-US" dirty="0"/>
              <a:t> = coolant heat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 </a:t>
            </a:r>
            <a:r>
              <a:rPr lang="en-US" dirty="0"/>
              <a:t>= T</a:t>
            </a:r>
            <a:r>
              <a:rPr lang="en-US" baseline="-25000" dirty="0"/>
              <a:t>out</a:t>
            </a:r>
            <a:r>
              <a:rPr lang="en-US" dirty="0"/>
              <a:t> - T</a:t>
            </a:r>
            <a:r>
              <a:rPr lang="en-US" baseline="-25000" dirty="0"/>
              <a:t>in</a:t>
            </a:r>
            <a:endParaRPr lang="el-GR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FEA6D3-18F7-14F1-DA16-B6E17E3087C9}"/>
                  </a:ext>
                </a:extLst>
              </p:cNvPr>
              <p:cNvSpPr txBox="1"/>
              <p:nvPr/>
            </p:nvSpPr>
            <p:spPr>
              <a:xfrm>
                <a:off x="7575044" y="4491303"/>
                <a:ext cx="3267667" cy="2086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Cambria Math" panose="02040503050406030204" pitchFamily="18" charset="0"/>
                  </a:rPr>
                  <a:t>Coefficient of Performance</a:t>
                </a: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or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FEA6D3-18F7-14F1-DA16-B6E17E308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044" y="4491303"/>
                <a:ext cx="3267667" cy="2086725"/>
              </a:xfrm>
              <a:prstGeom prst="rect">
                <a:avLst/>
              </a:prstGeom>
              <a:blipFill>
                <a:blip r:embed="rId2"/>
                <a:stretch>
                  <a:fillRect l="-1938" t="-181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Ευθύγραμμο βέλος σύνδεσης 48">
            <a:extLst>
              <a:ext uri="{FF2B5EF4-FFF2-40B4-BE49-F238E27FC236}">
                <a16:creationId xmlns:a16="http://schemas.microsoft.com/office/drawing/2014/main" id="{C0182A32-6744-324B-2D42-E308E896F4C5}"/>
              </a:ext>
            </a:extLst>
          </p:cNvPr>
          <p:cNvCxnSpPr>
            <a:cxnSpLocks/>
          </p:cNvCxnSpPr>
          <p:nvPr/>
        </p:nvCxnSpPr>
        <p:spPr>
          <a:xfrm flipV="1">
            <a:off x="3237215" y="1969106"/>
            <a:ext cx="0" cy="282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Ευθύγραμμο βέλος σύνδεσης 50">
            <a:extLst>
              <a:ext uri="{FF2B5EF4-FFF2-40B4-BE49-F238E27FC236}">
                <a16:creationId xmlns:a16="http://schemas.microsoft.com/office/drawing/2014/main" id="{E09ACA1A-6281-2003-ED40-BD0FEC6E0F58}"/>
              </a:ext>
            </a:extLst>
          </p:cNvPr>
          <p:cNvCxnSpPr>
            <a:cxnSpLocks/>
          </p:cNvCxnSpPr>
          <p:nvPr/>
        </p:nvCxnSpPr>
        <p:spPr>
          <a:xfrm>
            <a:off x="4487644" y="1969106"/>
            <a:ext cx="0" cy="282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Ευθύγραμμο βέλος σύνδεσης 57">
            <a:extLst>
              <a:ext uri="{FF2B5EF4-FFF2-40B4-BE49-F238E27FC236}">
                <a16:creationId xmlns:a16="http://schemas.microsoft.com/office/drawing/2014/main" id="{97EC6E26-DB62-38F4-1659-A272839602F8}"/>
              </a:ext>
            </a:extLst>
          </p:cNvPr>
          <p:cNvCxnSpPr>
            <a:stCxn id="31" idx="3"/>
          </p:cNvCxnSpPr>
          <p:nvPr/>
        </p:nvCxnSpPr>
        <p:spPr>
          <a:xfrm flipH="1">
            <a:off x="3447898" y="4292082"/>
            <a:ext cx="2498" cy="172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9" name="Ευθύγραμμο βέλος σύνδεσης 58">
            <a:extLst>
              <a:ext uri="{FF2B5EF4-FFF2-40B4-BE49-F238E27FC236}">
                <a16:creationId xmlns:a16="http://schemas.microsoft.com/office/drawing/2014/main" id="{F6AE3C53-EE30-D0DB-F941-996664A48BED}"/>
              </a:ext>
            </a:extLst>
          </p:cNvPr>
          <p:cNvCxnSpPr>
            <a:cxnSpLocks/>
          </p:cNvCxnSpPr>
          <p:nvPr/>
        </p:nvCxnSpPr>
        <p:spPr>
          <a:xfrm flipV="1">
            <a:off x="3728617" y="4292082"/>
            <a:ext cx="0" cy="1642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B665DA4-67F4-5BB0-57A9-6DDD5EB17F5B}"/>
              </a:ext>
            </a:extLst>
          </p:cNvPr>
          <p:cNvSpPr txBox="1"/>
          <p:nvPr/>
        </p:nvSpPr>
        <p:spPr>
          <a:xfrm>
            <a:off x="3111086" y="5991243"/>
            <a:ext cx="6175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</a:t>
            </a:r>
            <a:endParaRPr lang="el-GR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AEF960-0953-2544-78B3-61D516BCC36A}"/>
              </a:ext>
            </a:extLst>
          </p:cNvPr>
          <p:cNvSpPr txBox="1"/>
          <p:nvPr/>
        </p:nvSpPr>
        <p:spPr>
          <a:xfrm>
            <a:off x="3595079" y="5991243"/>
            <a:ext cx="6175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</a:t>
            </a:r>
            <a:endParaRPr lang="el-GR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59355A-D53E-1692-7A2F-3C1DDBD6A23B}"/>
              </a:ext>
            </a:extLst>
          </p:cNvPr>
          <p:cNvSpPr txBox="1"/>
          <p:nvPr/>
        </p:nvSpPr>
        <p:spPr>
          <a:xfrm>
            <a:off x="1717612" y="6091633"/>
            <a:ext cx="74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r>
              <a:rPr lang="en-US" dirty="0"/>
              <a:t> &gt; T</a:t>
            </a:r>
            <a:r>
              <a:rPr lang="en-US" baseline="-25000" dirty="0"/>
              <a:t>a</a:t>
            </a:r>
            <a:endParaRPr lang="el-GR" baseline="-25000" dirty="0"/>
          </a:p>
        </p:txBody>
      </p:sp>
      <p:sp>
        <p:nvSpPr>
          <p:cNvPr id="71" name="Δεξιό βέλος 70">
            <a:extLst>
              <a:ext uri="{FF2B5EF4-FFF2-40B4-BE49-F238E27FC236}">
                <a16:creationId xmlns:a16="http://schemas.microsoft.com/office/drawing/2014/main" id="{FDEB0F7E-F124-71BE-C2C1-3FB1099FF456}"/>
              </a:ext>
            </a:extLst>
          </p:cNvPr>
          <p:cNvSpPr/>
          <p:nvPr/>
        </p:nvSpPr>
        <p:spPr>
          <a:xfrm>
            <a:off x="5258621" y="6294404"/>
            <a:ext cx="42538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67FC13-A7DD-6D9C-0BB0-71E6B7485477}"/>
              </a:ext>
            </a:extLst>
          </p:cNvPr>
          <p:cNvSpPr txBox="1"/>
          <p:nvPr/>
        </p:nvSpPr>
        <p:spPr>
          <a:xfrm>
            <a:off x="5808913" y="613446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leak</a:t>
            </a:r>
            <a:endParaRPr lang="el-GR" baseline="-25000" dirty="0"/>
          </a:p>
        </p:txBody>
      </p:sp>
      <p:sp>
        <p:nvSpPr>
          <p:cNvPr id="73" name="Ορθογώνιο 72">
            <a:extLst>
              <a:ext uri="{FF2B5EF4-FFF2-40B4-BE49-F238E27FC236}">
                <a16:creationId xmlns:a16="http://schemas.microsoft.com/office/drawing/2014/main" id="{75AF4241-70F3-0201-0138-777163492687}"/>
              </a:ext>
            </a:extLst>
          </p:cNvPr>
          <p:cNvSpPr/>
          <p:nvPr/>
        </p:nvSpPr>
        <p:spPr>
          <a:xfrm>
            <a:off x="4392544" y="6105911"/>
            <a:ext cx="2013007" cy="3978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BA66C0-3A23-E5AE-CF81-61358FACE819}"/>
              </a:ext>
            </a:extLst>
          </p:cNvPr>
          <p:cNvSpPr txBox="1"/>
          <p:nvPr/>
        </p:nvSpPr>
        <p:spPr>
          <a:xfrm>
            <a:off x="4411267" y="6134468"/>
            <a:ext cx="722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r>
              <a:rPr lang="en-US" dirty="0"/>
              <a:t> =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l-GR" baseline="-25000" dirty="0"/>
          </a:p>
        </p:txBody>
      </p:sp>
      <p:cxnSp>
        <p:nvCxnSpPr>
          <p:cNvPr id="75" name="Ευθεία γραμμή σύνδεσης 74">
            <a:extLst>
              <a:ext uri="{FF2B5EF4-FFF2-40B4-BE49-F238E27FC236}">
                <a16:creationId xmlns:a16="http://schemas.microsoft.com/office/drawing/2014/main" id="{48EB35CA-9E40-282B-5073-3CB0461EF888}"/>
              </a:ext>
            </a:extLst>
          </p:cNvPr>
          <p:cNvCxnSpPr>
            <a:cxnSpLocks/>
          </p:cNvCxnSpPr>
          <p:nvPr/>
        </p:nvCxnSpPr>
        <p:spPr>
          <a:xfrm flipH="1">
            <a:off x="5903259" y="6175909"/>
            <a:ext cx="444669" cy="313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Έλλειψη 83">
            <a:extLst>
              <a:ext uri="{FF2B5EF4-FFF2-40B4-BE49-F238E27FC236}">
                <a16:creationId xmlns:a16="http://schemas.microsoft.com/office/drawing/2014/main" id="{781FAE0A-913E-DC98-8349-0C3BCEEDB6E2}"/>
              </a:ext>
            </a:extLst>
          </p:cNvPr>
          <p:cNvSpPr/>
          <p:nvPr/>
        </p:nvSpPr>
        <p:spPr>
          <a:xfrm>
            <a:off x="8283704" y="3480387"/>
            <a:ext cx="1057301" cy="3803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19957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9031-4715-F11E-069F-22A60C749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Thermodynamics Laws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F10D95-380B-59C8-5FB8-1FE22EF82741}"/>
                  </a:ext>
                </a:extLst>
              </p:cNvPr>
              <p:cNvSpPr txBox="1"/>
              <p:nvPr/>
            </p:nvSpPr>
            <p:spPr>
              <a:xfrm>
                <a:off x="981012" y="1690688"/>
                <a:ext cx="7036641" cy="2584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𝒔𝒕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𝑳𝒂𝒘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𝒐𝒇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𝑻𝒉𝒆𝒓𝒎𝒐𝒅𝒚𝒏𝒂𝒎𝒊𝒄𝒔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𝑑𝑈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𝑻𝒓𝒂𝒏𝒔𝒑𝒐𝒓𝒕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𝑳𝒂𝒘𝒔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b="1" dirty="0"/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𝐶𝑜𝑛𝑑𝑢𝑐𝑡𝑖𝑜𝑛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   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den>
                    </m:f>
                  </m:oMath>
                </a14:m>
                <a:endParaRPr lang="en-GR" dirty="0"/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𝐶𝑜𝑛𝑣𝑒𝑐𝑡𝑖𝑜𝑛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h𝐴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conv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𝑅𝑎𝑑𝑖𝑎𝑡𝑖𝑜𝑛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rad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𝐴𝑑𝑣𝑒𝑐𝑡𝑖𝑜𝑛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adv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endParaRPr lang="en-GR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F10D95-380B-59C8-5FB8-1FE22EF82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012" y="1690688"/>
                <a:ext cx="7036641" cy="2584297"/>
              </a:xfrm>
              <a:prstGeom prst="rect">
                <a:avLst/>
              </a:prstGeom>
              <a:blipFill>
                <a:blip r:embed="rId2"/>
                <a:stretch>
                  <a:fillRect l="-541" b="-976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50DD969-00B9-72EC-057C-8977C3C5B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029" y="842651"/>
            <a:ext cx="2899313" cy="1718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328298-20AD-FD85-4C09-889B032C3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2" y="2806644"/>
            <a:ext cx="2903170" cy="18368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B1B5C8-C606-37AF-C736-9584902D2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172" y="4832358"/>
            <a:ext cx="1974850" cy="1854200"/>
          </a:xfrm>
          <a:prstGeom prst="rect">
            <a:avLst/>
          </a:prstGeom>
        </p:spPr>
      </p:pic>
      <p:pic>
        <p:nvPicPr>
          <p:cNvPr id="7" name="Picture 6" descr="Conduction , Convection and Advection and Heat Budget | Heat Balance -  Terminologies Explained .">
            <a:extLst>
              <a:ext uri="{FF2B5EF4-FFF2-40B4-BE49-F238E27FC236}">
                <a16:creationId xmlns:a16="http://schemas.microsoft.com/office/drawing/2014/main" id="{6BEF1D75-B17F-ED6E-1C76-C88B47C3E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3355" y="4369759"/>
            <a:ext cx="3920264" cy="22051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CB96BE-9B0D-44CF-5D0B-34216505514B}"/>
                  </a:ext>
                </a:extLst>
              </p:cNvPr>
              <p:cNvSpPr txBox="1"/>
              <p:nvPr/>
            </p:nvSpPr>
            <p:spPr>
              <a:xfrm>
                <a:off x="1041568" y="1859078"/>
                <a:ext cx="41904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𝑡h𝑒𝑟𝑚𝑎𝑙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electrical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GR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CCB96BE-9B0D-44CF-5D0B-342165055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568" y="1859078"/>
                <a:ext cx="4190496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34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2BC50-F629-5839-7157-87221CE3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D8F8D64-833F-02DA-0B9C-3435D15E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Chamber modeling</a:t>
            </a:r>
            <a:endParaRPr lang="el-GR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70E92F04-5E95-3A5F-2897-821F2218A846}"/>
              </a:ext>
            </a:extLst>
          </p:cNvPr>
          <p:cNvSpPr/>
          <p:nvPr/>
        </p:nvSpPr>
        <p:spPr>
          <a:xfrm>
            <a:off x="838200" y="2343112"/>
            <a:ext cx="3947531" cy="3233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C570019A-F4CD-8AE5-665B-887EE78A4CAD}"/>
              </a:ext>
            </a:extLst>
          </p:cNvPr>
          <p:cNvSpPr/>
          <p:nvPr/>
        </p:nvSpPr>
        <p:spPr>
          <a:xfrm>
            <a:off x="1540726" y="2711102"/>
            <a:ext cx="2548053" cy="1940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DEB0D2FA-9BF4-B3E4-7615-B14E1079A8A9}"/>
              </a:ext>
            </a:extLst>
          </p:cNvPr>
          <p:cNvCxnSpPr/>
          <p:nvPr/>
        </p:nvCxnSpPr>
        <p:spPr>
          <a:xfrm>
            <a:off x="2176346" y="3681258"/>
            <a:ext cx="1326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BC9847E6-3885-59D4-0288-2DEF19BB7C4D}"/>
              </a:ext>
            </a:extLst>
          </p:cNvPr>
          <p:cNvSpPr/>
          <p:nvPr/>
        </p:nvSpPr>
        <p:spPr>
          <a:xfrm>
            <a:off x="2056784" y="3958802"/>
            <a:ext cx="830765" cy="5464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C828A6-F5FD-C507-90E7-6F83D3B84F4D}"/>
              </a:ext>
            </a:extLst>
          </p:cNvPr>
          <p:cNvSpPr txBox="1"/>
          <p:nvPr/>
        </p:nvSpPr>
        <p:spPr>
          <a:xfrm>
            <a:off x="2137629" y="4058490"/>
            <a:ext cx="669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DUT</a:t>
            </a:r>
            <a:endParaRPr lang="el-GR" b="1" dirty="0"/>
          </a:p>
        </p:txBody>
      </p:sp>
      <p:sp>
        <p:nvSpPr>
          <p:cNvPr id="10" name="Έλλειψη 9">
            <a:extLst>
              <a:ext uri="{FF2B5EF4-FFF2-40B4-BE49-F238E27FC236}">
                <a16:creationId xmlns:a16="http://schemas.microsoft.com/office/drawing/2014/main" id="{3424FACD-7141-FD8B-87C5-207BD33DF92E}"/>
              </a:ext>
            </a:extLst>
          </p:cNvPr>
          <p:cNvSpPr/>
          <p:nvPr/>
        </p:nvSpPr>
        <p:spPr>
          <a:xfrm>
            <a:off x="3428225" y="2950233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Έλλειψη 10">
            <a:extLst>
              <a:ext uri="{FF2B5EF4-FFF2-40B4-BE49-F238E27FC236}">
                <a16:creationId xmlns:a16="http://schemas.microsoft.com/office/drawing/2014/main" id="{4ABB89F1-6B3A-1B93-1F91-5E55F81DA095}"/>
              </a:ext>
            </a:extLst>
          </p:cNvPr>
          <p:cNvSpPr/>
          <p:nvPr/>
        </p:nvSpPr>
        <p:spPr>
          <a:xfrm>
            <a:off x="3428225" y="3106351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1" name="Resistor heater (i)">
            <a:extLst>
              <a:ext uri="{FF2B5EF4-FFF2-40B4-BE49-F238E27FC236}">
                <a16:creationId xmlns:a16="http://schemas.microsoft.com/office/drawing/2014/main" id="{C32E7015-5022-AD3E-1BBE-2C9431C5E09C}"/>
              </a:ext>
            </a:extLst>
          </p:cNvPr>
          <p:cNvSpPr/>
          <p:nvPr/>
        </p:nvSpPr>
        <p:spPr>
          <a:xfrm>
            <a:off x="3043207" y="4184883"/>
            <a:ext cx="787400" cy="203200"/>
          </a:xfrm>
          <a:custGeom>
            <a:avLst/>
            <a:gdLst/>
            <a:ahLst/>
            <a:cxnLst/>
            <a:rect l="0" t="0" r="1000" b="300"/>
            <a:pathLst>
              <a:path w="1000" h="300" fill="none">
                <a:moveTo>
                  <a:pt x="0" y="150"/>
                </a:moveTo>
                <a:lnTo>
                  <a:pt x="125" y="150"/>
                </a:lnTo>
                <a:lnTo>
                  <a:pt x="200" y="0"/>
                </a:lnTo>
                <a:lnTo>
                  <a:pt x="350" y="300"/>
                </a:lnTo>
                <a:lnTo>
                  <a:pt x="500" y="0"/>
                </a:lnTo>
                <a:lnTo>
                  <a:pt x="650" y="300"/>
                </a:lnTo>
                <a:lnTo>
                  <a:pt x="800" y="0"/>
                </a:lnTo>
                <a:lnTo>
                  <a:pt x="875" y="150"/>
                </a:lnTo>
                <a:lnTo>
                  <a:pt x="1000" y="15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12" name="Καμπύλο αριστερό βέλος 11">
            <a:extLst>
              <a:ext uri="{FF2B5EF4-FFF2-40B4-BE49-F238E27FC236}">
                <a16:creationId xmlns:a16="http://schemas.microsoft.com/office/drawing/2014/main" id="{66542362-8677-999B-9957-7F9E313DA117}"/>
              </a:ext>
            </a:extLst>
          </p:cNvPr>
          <p:cNvSpPr/>
          <p:nvPr/>
        </p:nvSpPr>
        <p:spPr>
          <a:xfrm>
            <a:off x="3726366" y="3081907"/>
            <a:ext cx="237893" cy="105467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sp>
        <p:nvSpPr>
          <p:cNvPr id="15" name="Καμπύλο αριστερό βέλος 14">
            <a:extLst>
              <a:ext uri="{FF2B5EF4-FFF2-40B4-BE49-F238E27FC236}">
                <a16:creationId xmlns:a16="http://schemas.microsoft.com/office/drawing/2014/main" id="{776FC2BE-128B-FCF0-B927-FEAE87F391C4}"/>
              </a:ext>
            </a:extLst>
          </p:cNvPr>
          <p:cNvSpPr/>
          <p:nvPr/>
        </p:nvSpPr>
        <p:spPr>
          <a:xfrm rot="10800000">
            <a:off x="1650226" y="3075675"/>
            <a:ext cx="237893" cy="1054677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3" name="Radiator">
            <a:extLst>
              <a:ext uri="{FF2B5EF4-FFF2-40B4-BE49-F238E27FC236}">
                <a16:creationId xmlns:a16="http://schemas.microsoft.com/office/drawing/2014/main" id="{B50D09B9-AA6D-159A-687B-4DBC65ED18DA}"/>
              </a:ext>
            </a:extLst>
          </p:cNvPr>
          <p:cNvSpPr/>
          <p:nvPr/>
        </p:nvSpPr>
        <p:spPr>
          <a:xfrm>
            <a:off x="2046405" y="2060934"/>
            <a:ext cx="1257300" cy="1231900"/>
          </a:xfrm>
          <a:custGeom>
            <a:avLst/>
            <a:gdLst/>
            <a:ahLst/>
            <a:cxnLst/>
            <a:rect l="0" t="0" r="990" b="970"/>
            <a:pathLst>
              <a:path w="990" h="970" fill="none">
                <a:moveTo>
                  <a:pt x="0" y="0"/>
                </a:moveTo>
                <a:lnTo>
                  <a:pt x="0" y="925"/>
                </a:lnTo>
                <a:arcTo wR="45" hR="45" stAng="10800000" swAng="-10800000"/>
                <a:lnTo>
                  <a:pt x="90" y="755"/>
                </a:lnTo>
                <a:arcTo wR="45" hR="45" stAng="10800000" swAng="10800000"/>
                <a:lnTo>
                  <a:pt x="180" y="925"/>
                </a:lnTo>
                <a:arcTo wR="45" hR="45" stAng="10800000" swAng="-10800000"/>
                <a:lnTo>
                  <a:pt x="270" y="755"/>
                </a:lnTo>
                <a:arcTo wR="45" hR="45" stAng="10800000" swAng="10800000"/>
                <a:lnTo>
                  <a:pt x="360" y="925"/>
                </a:lnTo>
                <a:arcTo wR="45" hR="45" stAng="10800000" swAng="-10800000"/>
                <a:lnTo>
                  <a:pt x="450" y="755"/>
                </a:lnTo>
                <a:arcTo wR="45" hR="45" stAng="10800000" swAng="10800000"/>
                <a:lnTo>
                  <a:pt x="540" y="925"/>
                </a:lnTo>
                <a:arcTo wR="45" hR="45" stAng="10800000" swAng="-10800000"/>
                <a:lnTo>
                  <a:pt x="630" y="755"/>
                </a:lnTo>
                <a:arcTo wR="45" hR="45" stAng="10800000" swAng="10800000"/>
                <a:lnTo>
                  <a:pt x="720" y="925"/>
                </a:lnTo>
                <a:arcTo wR="45" hR="45" stAng="10800000" swAng="-10800000"/>
                <a:lnTo>
                  <a:pt x="810" y="755"/>
                </a:lnTo>
                <a:arcTo wR="45" hR="45" stAng="10800000" swAng="10800000"/>
                <a:lnTo>
                  <a:pt x="900" y="925"/>
                </a:lnTo>
                <a:arcTo wR="45" hR="45" stAng="10800000" swAng="-10800000"/>
                <a:lnTo>
                  <a:pt x="99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618F82-D6D1-1400-236E-D71E89AD4E2F}"/>
              </a:ext>
            </a:extLst>
          </p:cNvPr>
          <p:cNvSpPr txBox="1"/>
          <p:nvPr/>
        </p:nvSpPr>
        <p:spPr>
          <a:xfrm>
            <a:off x="1747308" y="1637029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out</a:t>
            </a:r>
            <a:endParaRPr lang="el-GR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AEC69E-8F69-59BA-59AE-6D64902C23F7}"/>
              </a:ext>
            </a:extLst>
          </p:cNvPr>
          <p:cNvSpPr txBox="1"/>
          <p:nvPr/>
        </p:nvSpPr>
        <p:spPr>
          <a:xfrm>
            <a:off x="2887549" y="1633496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in</a:t>
            </a:r>
            <a:endParaRPr lang="el-GR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B3FAF7-DDB4-F1EC-4292-8B2C50604400}"/>
              </a:ext>
            </a:extLst>
          </p:cNvPr>
          <p:cNvSpPr txBox="1"/>
          <p:nvPr/>
        </p:nvSpPr>
        <p:spPr>
          <a:xfrm>
            <a:off x="1432156" y="5059975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l-GR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0052D1-233B-8864-4912-343E20BE0815}"/>
              </a:ext>
            </a:extLst>
          </p:cNvPr>
          <p:cNvSpPr txBox="1"/>
          <p:nvPr/>
        </p:nvSpPr>
        <p:spPr>
          <a:xfrm>
            <a:off x="1522596" y="4174441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endParaRPr lang="el-GR" baseline="-25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25DE6B-F085-3B91-080B-AF26AC3777F2}"/>
              </a:ext>
            </a:extLst>
          </p:cNvPr>
          <p:cNvSpPr txBox="1"/>
          <p:nvPr/>
        </p:nvSpPr>
        <p:spPr>
          <a:xfrm>
            <a:off x="2993880" y="4277229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heater</a:t>
            </a:r>
            <a:endParaRPr lang="el-GR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EDB94F-D956-15AE-4B70-BAAE2D85E881}"/>
              </a:ext>
            </a:extLst>
          </p:cNvPr>
          <p:cNvSpPr txBox="1"/>
          <p:nvPr/>
        </p:nvSpPr>
        <p:spPr>
          <a:xfrm>
            <a:off x="3230533" y="3294007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fan</a:t>
            </a:r>
            <a:endParaRPr lang="el-GR" baseline="-25000" dirty="0"/>
          </a:p>
        </p:txBody>
      </p:sp>
      <p:cxnSp>
        <p:nvCxnSpPr>
          <p:cNvPr id="49" name="Ευθύγραμμο βέλος σύνδεσης 48">
            <a:extLst>
              <a:ext uri="{FF2B5EF4-FFF2-40B4-BE49-F238E27FC236}">
                <a16:creationId xmlns:a16="http://schemas.microsoft.com/office/drawing/2014/main" id="{6DB393F4-071F-775D-08D2-572DEAE102B4}"/>
              </a:ext>
            </a:extLst>
          </p:cNvPr>
          <p:cNvCxnSpPr>
            <a:cxnSpLocks/>
          </p:cNvCxnSpPr>
          <p:nvPr/>
        </p:nvCxnSpPr>
        <p:spPr>
          <a:xfrm flipV="1">
            <a:off x="1926946" y="2036131"/>
            <a:ext cx="0" cy="282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Ευθύγραμμο βέλος σύνδεσης 50">
            <a:extLst>
              <a:ext uri="{FF2B5EF4-FFF2-40B4-BE49-F238E27FC236}">
                <a16:creationId xmlns:a16="http://schemas.microsoft.com/office/drawing/2014/main" id="{51BD3077-E4F2-E824-45DE-8C01DF8CEA88}"/>
              </a:ext>
            </a:extLst>
          </p:cNvPr>
          <p:cNvCxnSpPr>
            <a:cxnSpLocks/>
          </p:cNvCxnSpPr>
          <p:nvPr/>
        </p:nvCxnSpPr>
        <p:spPr>
          <a:xfrm>
            <a:off x="3177375" y="2036131"/>
            <a:ext cx="0" cy="282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Ευθύγραμμο βέλος σύνδεσης 57">
            <a:extLst>
              <a:ext uri="{FF2B5EF4-FFF2-40B4-BE49-F238E27FC236}">
                <a16:creationId xmlns:a16="http://schemas.microsoft.com/office/drawing/2014/main" id="{F9D6554C-1F7B-D1FB-A63E-D0A21FB4D443}"/>
              </a:ext>
            </a:extLst>
          </p:cNvPr>
          <p:cNvCxnSpPr>
            <a:stCxn id="31" idx="3"/>
          </p:cNvCxnSpPr>
          <p:nvPr/>
        </p:nvCxnSpPr>
        <p:spPr>
          <a:xfrm flipH="1">
            <a:off x="2137629" y="4359107"/>
            <a:ext cx="2498" cy="172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9" name="Ευθύγραμμο βέλος σύνδεσης 58">
            <a:extLst>
              <a:ext uri="{FF2B5EF4-FFF2-40B4-BE49-F238E27FC236}">
                <a16:creationId xmlns:a16="http://schemas.microsoft.com/office/drawing/2014/main" id="{9824B431-D81C-92F8-6DFE-272988E8DFFA}"/>
              </a:ext>
            </a:extLst>
          </p:cNvPr>
          <p:cNvCxnSpPr>
            <a:cxnSpLocks/>
          </p:cNvCxnSpPr>
          <p:nvPr/>
        </p:nvCxnSpPr>
        <p:spPr>
          <a:xfrm flipV="1">
            <a:off x="2418348" y="4359107"/>
            <a:ext cx="0" cy="1642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E6B2A4D-7CA4-689D-4BF7-CED23B90E68C}"/>
              </a:ext>
            </a:extLst>
          </p:cNvPr>
          <p:cNvSpPr txBox="1"/>
          <p:nvPr/>
        </p:nvSpPr>
        <p:spPr>
          <a:xfrm>
            <a:off x="1800817" y="6058268"/>
            <a:ext cx="6175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</a:t>
            </a:r>
            <a:endParaRPr lang="el-GR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CDD7F5-CC96-5559-6787-AB05C0C06D16}"/>
              </a:ext>
            </a:extLst>
          </p:cNvPr>
          <p:cNvSpPr txBox="1"/>
          <p:nvPr/>
        </p:nvSpPr>
        <p:spPr>
          <a:xfrm>
            <a:off x="2284810" y="6058268"/>
            <a:ext cx="6175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</a:t>
            </a:r>
            <a:endParaRPr lang="el-GR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7265A6-A5BD-9A90-C812-5847BE7A7104}"/>
                  </a:ext>
                </a:extLst>
              </p:cNvPr>
              <p:cNvSpPr txBox="1"/>
              <p:nvPr/>
            </p:nvSpPr>
            <p:spPr>
              <a:xfrm>
                <a:off x="5269724" y="1741923"/>
                <a:ext cx="5727848" cy="4745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1</a:t>
                </a:r>
                <a:r>
                  <a:rPr lang="en-US" b="0" i="1" baseline="30000" dirty="0">
                    <a:latin typeface="Cambria Math" panose="02040503050406030204" pitchFamily="18" charset="0"/>
                  </a:rPr>
                  <a:t>st</a:t>
                </a:r>
                <a:r>
                  <a:rPr lang="en-US" b="0" i="1" dirty="0">
                    <a:latin typeface="Cambria Math" panose="02040503050406030204" pitchFamily="18" charset="0"/>
                  </a:rPr>
                  <a:t> Law of  Thermodynamics: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dirty="0"/>
                  <a:t>Σ</a:t>
                </a:r>
                <a:r>
                  <a:rPr lang="en-US" dirty="0"/>
                  <a:t>E</a:t>
                </a:r>
                <a:r>
                  <a:rPr lang="en-US" baseline="-25000" dirty="0"/>
                  <a:t>in</a:t>
                </a:r>
                <a:r>
                  <a:rPr lang="en-US" dirty="0"/>
                  <a:t> = </a:t>
                </a:r>
                <a:r>
                  <a:rPr lang="el-GR" dirty="0"/>
                  <a:t>Σ</a:t>
                </a:r>
                <a:r>
                  <a:rPr lang="en-US" dirty="0"/>
                  <a:t>P =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fan</a:t>
                </a:r>
                <a:r>
                  <a:rPr lang="en-US" dirty="0"/>
                  <a:t> +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heater</a:t>
                </a:r>
                <a:r>
                  <a:rPr lang="en-US" dirty="0"/>
                  <a:t> + P</a:t>
                </a:r>
                <a:r>
                  <a:rPr lang="en-US" baseline="-25000" dirty="0"/>
                  <a:t>DUT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dirty="0"/>
                  <a:t>Σ</a:t>
                </a:r>
                <a:r>
                  <a:rPr lang="en-US" dirty="0" err="1"/>
                  <a:t>E</a:t>
                </a:r>
                <a:r>
                  <a:rPr lang="en-US" baseline="-25000" dirty="0" err="1"/>
                  <a:t>out</a:t>
                </a:r>
                <a:r>
                  <a:rPr lang="en-US" dirty="0"/>
                  <a:t> = </a:t>
                </a:r>
                <a:r>
                  <a:rPr lang="el-GR" dirty="0"/>
                  <a:t>Σ</a:t>
                </a:r>
                <a:r>
                  <a:rPr lang="en-US" dirty="0"/>
                  <a:t>Q = </a:t>
                </a:r>
                <a:r>
                  <a:rPr lang="el-GR" dirty="0"/>
                  <a:t>Σ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gap</a:t>
                </a:r>
                <a:r>
                  <a:rPr lang="en-US" dirty="0"/>
                  <a:t> + 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w</a:t>
                </a:r>
                <a:endParaRPr lang="en-US" baseline="-25000" dirty="0"/>
              </a:p>
              <a:p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Wingdings" pitchFamily="2" charset="2"/>
                  <a:buChar char="Ø"/>
                </a:pPr>
                <a:r>
                  <a:rPr lang="el-GR" dirty="0"/>
                  <a:t>Σ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gap</a:t>
                </a:r>
                <a:r>
                  <a:rPr lang="en-US" dirty="0"/>
                  <a:t> = </a:t>
                </a:r>
                <a:r>
                  <a:rPr lang="el-GR" dirty="0"/>
                  <a:t>Σ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cond</a:t>
                </a:r>
                <a:r>
                  <a:rPr lang="en-US" dirty="0"/>
                  <a:t> + </a:t>
                </a:r>
                <a:r>
                  <a:rPr lang="el-GR" dirty="0"/>
                  <a:t>Σ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conv</a:t>
                </a:r>
                <a:r>
                  <a:rPr lang="en-US" dirty="0"/>
                  <a:t> </a:t>
                </a:r>
                <a:r>
                  <a:rPr lang="el-GR" dirty="0"/>
                  <a:t>+ Σ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rad</a:t>
                </a:r>
                <a:r>
                  <a:rPr lang="en-US" dirty="0"/>
                  <a:t> </a:t>
                </a:r>
                <a:endParaRPr lang="el-GR" dirty="0"/>
              </a:p>
              <a:p>
                <a:pPr marL="285750" indent="-285750">
                  <a:buFont typeface="Wingdings" pitchFamily="2" charset="2"/>
                  <a:buChar char="Ø"/>
                </a:pPr>
                <a:endParaRPr lang="el-GR" dirty="0"/>
              </a:p>
              <a:p>
                <a:r>
                  <a:rPr lang="en-US" i="1" dirty="0"/>
                  <a:t>Substitute: </a:t>
                </a:r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dU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l-G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gap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ΔΤ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7265A6-A5BD-9A90-C812-5847BE7A71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24" y="1741923"/>
                <a:ext cx="5727848" cy="4745273"/>
              </a:xfrm>
              <a:prstGeom prst="rect">
                <a:avLst/>
              </a:prstGeom>
              <a:blipFill>
                <a:blip r:embed="rId2"/>
                <a:stretch>
                  <a:fillRect l="-885" t="-802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hermal Flow Arrow"/>
          <p:cNvSpPr/>
          <p:nvPr/>
        </p:nvSpPr>
        <p:spPr>
          <a:xfrm rot="19951910">
            <a:off x="2219823" y="3714842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hermal Flow Arrow">
            <a:extLst>
              <a:ext uri="{FF2B5EF4-FFF2-40B4-BE49-F238E27FC236}">
                <a16:creationId xmlns:a16="http://schemas.microsoft.com/office/drawing/2014/main" id="{A325BE36-124D-BA22-7E78-D1F2033BB8C9}"/>
              </a:ext>
            </a:extLst>
          </p:cNvPr>
          <p:cNvSpPr/>
          <p:nvPr/>
        </p:nvSpPr>
        <p:spPr>
          <a:xfrm rot="19838986">
            <a:off x="2172371" y="3741216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hermal Flow Arrow">
            <a:extLst>
              <a:ext uri="{FF2B5EF4-FFF2-40B4-BE49-F238E27FC236}">
                <a16:creationId xmlns:a16="http://schemas.microsoft.com/office/drawing/2014/main" id="{5B5A0026-D818-39FF-669C-1A30383CB9AF}"/>
              </a:ext>
            </a:extLst>
          </p:cNvPr>
          <p:cNvSpPr/>
          <p:nvPr/>
        </p:nvSpPr>
        <p:spPr>
          <a:xfrm rot="19892534">
            <a:off x="2123593" y="3768163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hermal Flow Arrow">
            <a:extLst>
              <a:ext uri="{FF2B5EF4-FFF2-40B4-BE49-F238E27FC236}">
                <a16:creationId xmlns:a16="http://schemas.microsoft.com/office/drawing/2014/main" id="{23080404-9E3C-1650-DD3C-A3E03C0BD62A}"/>
              </a:ext>
            </a:extLst>
          </p:cNvPr>
          <p:cNvSpPr/>
          <p:nvPr/>
        </p:nvSpPr>
        <p:spPr>
          <a:xfrm rot="19702960">
            <a:off x="3143411" y="3948451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hermal Flow Arrow">
            <a:extLst>
              <a:ext uri="{FF2B5EF4-FFF2-40B4-BE49-F238E27FC236}">
                <a16:creationId xmlns:a16="http://schemas.microsoft.com/office/drawing/2014/main" id="{D2F6978C-16A3-6EC6-F397-BF53282FD542}"/>
              </a:ext>
            </a:extLst>
          </p:cNvPr>
          <p:cNvSpPr/>
          <p:nvPr/>
        </p:nvSpPr>
        <p:spPr>
          <a:xfrm rot="19702960">
            <a:off x="3192739" y="3909058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hermal Flow Arrow">
            <a:extLst>
              <a:ext uri="{FF2B5EF4-FFF2-40B4-BE49-F238E27FC236}">
                <a16:creationId xmlns:a16="http://schemas.microsoft.com/office/drawing/2014/main" id="{95F1C3C6-1A28-6F68-2EED-99F56C42D8F7}"/>
              </a:ext>
            </a:extLst>
          </p:cNvPr>
          <p:cNvSpPr/>
          <p:nvPr/>
        </p:nvSpPr>
        <p:spPr>
          <a:xfrm rot="12907509">
            <a:off x="1716716" y="4488231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hermal Flow Arrow">
            <a:extLst>
              <a:ext uri="{FF2B5EF4-FFF2-40B4-BE49-F238E27FC236}">
                <a16:creationId xmlns:a16="http://schemas.microsoft.com/office/drawing/2014/main" id="{181B92D1-46A4-0527-CE31-2BE2F1A07F75}"/>
              </a:ext>
            </a:extLst>
          </p:cNvPr>
          <p:cNvSpPr/>
          <p:nvPr/>
        </p:nvSpPr>
        <p:spPr>
          <a:xfrm rot="12907509">
            <a:off x="1754785" y="4524602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5AA0BA7-D8F7-9D3B-CF29-6A8586B304CE}"/>
              </a:ext>
            </a:extLst>
          </p:cNvPr>
          <p:cNvSpPr/>
          <p:nvPr/>
        </p:nvSpPr>
        <p:spPr>
          <a:xfrm>
            <a:off x="3189490" y="2903262"/>
            <a:ext cx="610048" cy="75755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AACD8CC-EC9E-9C2B-0E2A-5EDCBD3CC05B}"/>
              </a:ext>
            </a:extLst>
          </p:cNvPr>
          <p:cNvSpPr/>
          <p:nvPr/>
        </p:nvSpPr>
        <p:spPr>
          <a:xfrm>
            <a:off x="1637666" y="1606888"/>
            <a:ext cx="667504" cy="79187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955114-ACA2-CA71-1056-15A7A62DD74B}"/>
              </a:ext>
            </a:extLst>
          </p:cNvPr>
          <p:cNvSpPr/>
          <p:nvPr/>
        </p:nvSpPr>
        <p:spPr>
          <a:xfrm>
            <a:off x="7755467" y="5244641"/>
            <a:ext cx="2509587" cy="7158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92976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/>
      <p:bldP spid="10" grpId="0" animBg="1"/>
      <p:bldP spid="11" grpId="0" animBg="1"/>
      <p:bldP spid="21" grpId="0" animBg="1"/>
      <p:bldP spid="12" grpId="0" animBg="1"/>
      <p:bldP spid="15" grpId="0" animBg="1"/>
      <p:bldP spid="23" grpId="0" animBg="1"/>
      <p:bldP spid="27" grpId="0"/>
      <p:bldP spid="28" grpId="0"/>
      <p:bldP spid="29" grpId="0"/>
      <p:bldP spid="31" grpId="0"/>
      <p:bldP spid="41" grpId="0"/>
      <p:bldP spid="43" grpId="0"/>
      <p:bldP spid="66" grpId="0"/>
      <p:bldP spid="68" grpId="0"/>
      <p:bldP spid="100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5F200-F662-0BD7-9FB1-F1BA0225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10465BB-0DAB-7395-7AAF-0C7B18E41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Outer Chamber Modeling</a:t>
            </a:r>
            <a:endParaRPr lang="el-GR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24E75B2B-2068-A4AD-C063-3367BC61BC9B}"/>
              </a:ext>
            </a:extLst>
          </p:cNvPr>
          <p:cNvSpPr/>
          <p:nvPr/>
        </p:nvSpPr>
        <p:spPr>
          <a:xfrm>
            <a:off x="838200" y="2151909"/>
            <a:ext cx="3947531" cy="3233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4F30D2F6-EDE3-A821-EF82-94748B5F75BF}"/>
              </a:ext>
            </a:extLst>
          </p:cNvPr>
          <p:cNvSpPr/>
          <p:nvPr/>
        </p:nvSpPr>
        <p:spPr>
          <a:xfrm>
            <a:off x="1540726" y="2519899"/>
            <a:ext cx="2548053" cy="1940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CD91F9DA-DCF3-454C-6B80-C155036D757B}"/>
              </a:ext>
            </a:extLst>
          </p:cNvPr>
          <p:cNvCxnSpPr/>
          <p:nvPr/>
        </p:nvCxnSpPr>
        <p:spPr>
          <a:xfrm>
            <a:off x="2176346" y="3490055"/>
            <a:ext cx="1326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Έλλειψη 12">
            <a:extLst>
              <a:ext uri="{FF2B5EF4-FFF2-40B4-BE49-F238E27FC236}">
                <a16:creationId xmlns:a16="http://schemas.microsoft.com/office/drawing/2014/main" id="{7D507EEA-A95D-1E9E-BF44-4333019ED3FE}"/>
              </a:ext>
            </a:extLst>
          </p:cNvPr>
          <p:cNvSpPr/>
          <p:nvPr/>
        </p:nvSpPr>
        <p:spPr>
          <a:xfrm>
            <a:off x="3919654" y="4742390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Έλλειψη 13">
            <a:extLst>
              <a:ext uri="{FF2B5EF4-FFF2-40B4-BE49-F238E27FC236}">
                <a16:creationId xmlns:a16="http://schemas.microsoft.com/office/drawing/2014/main" id="{03FA2D1E-2B9F-BD7B-FB2E-18E2D1D98FE1}"/>
              </a:ext>
            </a:extLst>
          </p:cNvPr>
          <p:cNvSpPr/>
          <p:nvPr/>
        </p:nvSpPr>
        <p:spPr>
          <a:xfrm>
            <a:off x="3919654" y="4898508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2" name="Resistor heater (e)">
            <a:extLst>
              <a:ext uri="{FF2B5EF4-FFF2-40B4-BE49-F238E27FC236}">
                <a16:creationId xmlns:a16="http://schemas.microsoft.com/office/drawing/2014/main" id="{D71132B1-EFBB-1740-32AB-A177C14F249A}"/>
              </a:ext>
            </a:extLst>
          </p:cNvPr>
          <p:cNvSpPr/>
          <p:nvPr/>
        </p:nvSpPr>
        <p:spPr>
          <a:xfrm>
            <a:off x="2736385" y="4834397"/>
            <a:ext cx="787400" cy="203200"/>
          </a:xfrm>
          <a:custGeom>
            <a:avLst/>
            <a:gdLst/>
            <a:ahLst/>
            <a:cxnLst/>
            <a:rect l="0" t="0" r="1000" b="300"/>
            <a:pathLst>
              <a:path w="1000" h="300" fill="none">
                <a:moveTo>
                  <a:pt x="0" y="150"/>
                </a:moveTo>
                <a:lnTo>
                  <a:pt x="125" y="150"/>
                </a:lnTo>
                <a:lnTo>
                  <a:pt x="200" y="0"/>
                </a:lnTo>
                <a:lnTo>
                  <a:pt x="350" y="300"/>
                </a:lnTo>
                <a:lnTo>
                  <a:pt x="500" y="0"/>
                </a:lnTo>
                <a:lnTo>
                  <a:pt x="650" y="300"/>
                </a:lnTo>
                <a:lnTo>
                  <a:pt x="800" y="0"/>
                </a:lnTo>
                <a:lnTo>
                  <a:pt x="875" y="150"/>
                </a:lnTo>
                <a:lnTo>
                  <a:pt x="1000" y="15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6" name="Καμπύλο αριστερό βέλος 5">
            <a:extLst>
              <a:ext uri="{FF2B5EF4-FFF2-40B4-BE49-F238E27FC236}">
                <a16:creationId xmlns:a16="http://schemas.microsoft.com/office/drawing/2014/main" id="{59913F01-9F22-CE02-90F0-A8EEAC1CACF2}"/>
              </a:ext>
            </a:extLst>
          </p:cNvPr>
          <p:cNvSpPr/>
          <p:nvPr/>
        </p:nvSpPr>
        <p:spPr>
          <a:xfrm rot="10800000">
            <a:off x="1023773" y="2239937"/>
            <a:ext cx="367630" cy="2885688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6" name="Καμπύλο αριστερό βέλος 15">
            <a:extLst>
              <a:ext uri="{FF2B5EF4-FFF2-40B4-BE49-F238E27FC236}">
                <a16:creationId xmlns:a16="http://schemas.microsoft.com/office/drawing/2014/main" id="{DCCCFA78-DEC5-5A0D-18C3-4AFC0CBBDB67}"/>
              </a:ext>
            </a:extLst>
          </p:cNvPr>
          <p:cNvSpPr/>
          <p:nvPr/>
        </p:nvSpPr>
        <p:spPr>
          <a:xfrm>
            <a:off x="4290972" y="2324755"/>
            <a:ext cx="367630" cy="2885688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cxnSp>
        <p:nvCxnSpPr>
          <p:cNvPr id="25" name="Ευθύγραμμο βέλος σύνδεσης 24">
            <a:extLst>
              <a:ext uri="{FF2B5EF4-FFF2-40B4-BE49-F238E27FC236}">
                <a16:creationId xmlns:a16="http://schemas.microsoft.com/office/drawing/2014/main" id="{71AF71A0-25CF-7543-F804-32ECB6B24B4D}"/>
              </a:ext>
            </a:extLst>
          </p:cNvPr>
          <p:cNvCxnSpPr>
            <a:cxnSpLocks/>
          </p:cNvCxnSpPr>
          <p:nvPr/>
        </p:nvCxnSpPr>
        <p:spPr>
          <a:xfrm flipH="1" flipV="1">
            <a:off x="3587591" y="4940548"/>
            <a:ext cx="257721" cy="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81A08B6-6817-1E5C-D557-D7ECD1FF5B29}"/>
              </a:ext>
            </a:extLst>
          </p:cNvPr>
          <p:cNvSpPr txBox="1"/>
          <p:nvPr/>
        </p:nvSpPr>
        <p:spPr>
          <a:xfrm>
            <a:off x="1432156" y="4868772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l-GR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3E2376-83BF-B3F1-281C-CAD7C68ED4E7}"/>
              </a:ext>
            </a:extLst>
          </p:cNvPr>
          <p:cNvSpPr txBox="1"/>
          <p:nvPr/>
        </p:nvSpPr>
        <p:spPr>
          <a:xfrm>
            <a:off x="1082637" y="5441265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a</a:t>
            </a:r>
            <a:endParaRPr lang="el-GR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6DF50A-ED13-4DDA-B59E-0A16C512E8B0}"/>
              </a:ext>
            </a:extLst>
          </p:cNvPr>
          <p:cNvSpPr txBox="1"/>
          <p:nvPr/>
        </p:nvSpPr>
        <p:spPr>
          <a:xfrm>
            <a:off x="1522596" y="3983238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endParaRPr lang="el-GR" baseline="-25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E59F27-8989-65AA-D79F-CC04F3666C76}"/>
              </a:ext>
            </a:extLst>
          </p:cNvPr>
          <p:cNvSpPr txBox="1"/>
          <p:nvPr/>
        </p:nvSpPr>
        <p:spPr>
          <a:xfrm>
            <a:off x="2710901" y="4950443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heater</a:t>
            </a:r>
            <a:endParaRPr lang="el-GR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4BDC24-83F3-837F-3646-15C1AE08F00F}"/>
              </a:ext>
            </a:extLst>
          </p:cNvPr>
          <p:cNvSpPr txBox="1"/>
          <p:nvPr/>
        </p:nvSpPr>
        <p:spPr>
          <a:xfrm>
            <a:off x="3626564" y="4981756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fan</a:t>
            </a:r>
            <a:endParaRPr lang="el-GR" baseline="-25000" dirty="0"/>
          </a:p>
        </p:txBody>
      </p:sp>
      <p:sp>
        <p:nvSpPr>
          <p:cNvPr id="17" name="Thermal Flow Arrow">
            <a:extLst>
              <a:ext uri="{FF2B5EF4-FFF2-40B4-BE49-F238E27FC236}">
                <a16:creationId xmlns:a16="http://schemas.microsoft.com/office/drawing/2014/main" id="{38939B1C-53A7-F5E0-DA4E-C9387396E52A}"/>
              </a:ext>
            </a:extLst>
          </p:cNvPr>
          <p:cNvSpPr/>
          <p:nvPr/>
        </p:nvSpPr>
        <p:spPr>
          <a:xfrm rot="19276883">
            <a:off x="2729335" y="4671496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hermal Flow Arrow">
            <a:extLst>
              <a:ext uri="{FF2B5EF4-FFF2-40B4-BE49-F238E27FC236}">
                <a16:creationId xmlns:a16="http://schemas.microsoft.com/office/drawing/2014/main" id="{A1478FC4-66B1-9D9B-0419-F4C86BC05C05}"/>
              </a:ext>
            </a:extLst>
          </p:cNvPr>
          <p:cNvSpPr/>
          <p:nvPr/>
        </p:nvSpPr>
        <p:spPr>
          <a:xfrm rot="10800000">
            <a:off x="1971134" y="5238104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0" name="Thermal Flow Arrow">
            <a:extLst>
              <a:ext uri="{FF2B5EF4-FFF2-40B4-BE49-F238E27FC236}">
                <a16:creationId xmlns:a16="http://schemas.microsoft.com/office/drawing/2014/main" id="{16D80D49-3651-2A89-0285-DA6EFE570BD3}"/>
              </a:ext>
            </a:extLst>
          </p:cNvPr>
          <p:cNvSpPr/>
          <p:nvPr/>
        </p:nvSpPr>
        <p:spPr>
          <a:xfrm rot="10800000">
            <a:off x="2045239" y="5238103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4" name="Thermal Flow Arrow">
            <a:extLst>
              <a:ext uri="{FF2B5EF4-FFF2-40B4-BE49-F238E27FC236}">
                <a16:creationId xmlns:a16="http://schemas.microsoft.com/office/drawing/2014/main" id="{AC123D13-7032-987B-E35C-8FC9FF2FB201}"/>
              </a:ext>
            </a:extLst>
          </p:cNvPr>
          <p:cNvSpPr/>
          <p:nvPr/>
        </p:nvSpPr>
        <p:spPr>
          <a:xfrm rot="19276883">
            <a:off x="2774022" y="4643571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8BAA1B-4F10-ED6F-0782-3CF3CBDCF0A4}"/>
                  </a:ext>
                </a:extLst>
              </p:cNvPr>
              <p:cNvSpPr txBox="1"/>
              <p:nvPr/>
            </p:nvSpPr>
            <p:spPr>
              <a:xfrm>
                <a:off x="5269724" y="1741923"/>
                <a:ext cx="5727848" cy="4191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1</a:t>
                </a:r>
                <a:r>
                  <a:rPr lang="en-US" b="0" i="1" baseline="30000" dirty="0">
                    <a:latin typeface="Cambria Math" panose="02040503050406030204" pitchFamily="18" charset="0"/>
                  </a:rPr>
                  <a:t>st</a:t>
                </a:r>
                <a:r>
                  <a:rPr lang="en-US" b="0" i="1" dirty="0">
                    <a:latin typeface="Cambria Math" panose="02040503050406030204" pitchFamily="18" charset="0"/>
                  </a:rPr>
                  <a:t> Law of  Thermodynamics: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dirty="0"/>
                  <a:t>Σ</a:t>
                </a:r>
                <a:r>
                  <a:rPr lang="en-US" dirty="0"/>
                  <a:t>E</a:t>
                </a:r>
                <a:r>
                  <a:rPr lang="en-US" baseline="-25000" dirty="0"/>
                  <a:t>in</a:t>
                </a:r>
                <a:r>
                  <a:rPr lang="en-US" dirty="0"/>
                  <a:t> = </a:t>
                </a:r>
                <a:r>
                  <a:rPr lang="el-GR" dirty="0"/>
                  <a:t>Σ</a:t>
                </a:r>
                <a:r>
                  <a:rPr lang="en-US" dirty="0"/>
                  <a:t>P =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fan</a:t>
                </a:r>
                <a:r>
                  <a:rPr lang="en-US" dirty="0"/>
                  <a:t> + 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heater</a:t>
                </a:r>
                <a:r>
                  <a:rPr lang="en-US" dirty="0"/>
                  <a:t> + 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gap,inner</a:t>
                </a:r>
                <a:endParaRPr lang="en-US" baseline="-25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dirty="0"/>
                  <a:t>Σ</a:t>
                </a:r>
                <a:r>
                  <a:rPr lang="en-US" dirty="0" err="1"/>
                  <a:t>E</a:t>
                </a:r>
                <a:r>
                  <a:rPr lang="en-US" baseline="-25000" dirty="0" err="1"/>
                  <a:t>out</a:t>
                </a:r>
                <a:r>
                  <a:rPr lang="en-US" dirty="0"/>
                  <a:t> = </a:t>
                </a:r>
                <a:r>
                  <a:rPr lang="el-GR" dirty="0"/>
                  <a:t>Σ</a:t>
                </a:r>
                <a:r>
                  <a:rPr lang="en-US" dirty="0"/>
                  <a:t>Q = </a:t>
                </a:r>
                <a:r>
                  <a:rPr lang="el-GR" dirty="0"/>
                  <a:t>Σ</a:t>
                </a:r>
                <a:r>
                  <a:rPr lang="en-US" dirty="0" err="1"/>
                  <a:t>Q</a:t>
                </a:r>
                <a:r>
                  <a:rPr lang="en-US" baseline="-25000" dirty="0" err="1"/>
                  <a:t>gap,outer</a:t>
                </a:r>
                <a:endParaRPr lang="en-US" baseline="-25000" dirty="0"/>
              </a:p>
              <a:p>
                <a:endParaRPr lang="en-US" dirty="0"/>
              </a:p>
              <a:p>
                <a:endParaRPr lang="el-GR" dirty="0"/>
              </a:p>
              <a:p>
                <a:r>
                  <a:rPr lang="en-US" i="1" dirty="0"/>
                  <a:t>Substitute: </a:t>
                </a:r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dU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l-G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gap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ΔΤ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8BAA1B-4F10-ED6F-0782-3CF3CBDCF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724" y="1741923"/>
                <a:ext cx="5727848" cy="4191276"/>
              </a:xfrm>
              <a:prstGeom prst="rect">
                <a:avLst/>
              </a:prstGeom>
              <a:blipFill>
                <a:blip r:embed="rId2"/>
                <a:stretch>
                  <a:fillRect l="-885" t="-906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816B4E64-D554-DFA5-128F-BE6E750F9CDF}"/>
              </a:ext>
            </a:extLst>
          </p:cNvPr>
          <p:cNvSpPr/>
          <p:nvPr/>
        </p:nvSpPr>
        <p:spPr>
          <a:xfrm>
            <a:off x="3579590" y="4676341"/>
            <a:ext cx="675204" cy="6747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21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3449-24DE-0F35-7669-E9C822575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Thermal Capacitance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50A714-2D47-0C98-6617-1965AD2412B1}"/>
                  </a:ext>
                </a:extLst>
              </p:cNvPr>
              <p:cNvSpPr txBox="1"/>
              <p:nvPr/>
            </p:nvSpPr>
            <p:spPr>
              <a:xfrm>
                <a:off x="757646" y="1848394"/>
                <a:ext cx="9921240" cy="41630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l-G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b="0" dirty="0"/>
              </a:p>
              <a:p>
                <a:endParaRPr lang="en-GR" dirty="0"/>
              </a:p>
              <a:p>
                <a:r>
                  <a:rPr lang="en-GB" dirty="0"/>
                  <a:t>W</a:t>
                </a:r>
                <a:r>
                  <a:rPr lang="en-GR" dirty="0"/>
                  <a:t>here: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dirty="0"/>
                  <a:t>ρ</a:t>
                </a:r>
                <a:r>
                  <a:rPr lang="en-GR" dirty="0"/>
                  <a:t>: the density of the material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R" dirty="0"/>
                  <a:t>c: material’s specific heat capacity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R" dirty="0"/>
                  <a:t>V: the volume of the material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R" dirty="0"/>
              </a:p>
              <a:p>
                <a:r>
                  <a:rPr lang="en-GR" dirty="0"/>
                  <a:t>Interaction with energy rate (in our chambers):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pPr/>
                <a:endParaRPr lang="en-US" dirty="0"/>
              </a:p>
              <a:p>
                <a:pPr/>
                <a:r>
                  <a:rPr lang="en-US" dirty="0"/>
                  <a:t>Plug to plants: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  <m:f>
                        <m:f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tot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750A714-2D47-0C98-6617-1965AD241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46" y="1848394"/>
                <a:ext cx="9921240" cy="4163063"/>
              </a:xfrm>
              <a:prstGeom prst="rect">
                <a:avLst/>
              </a:prstGeom>
              <a:blipFill>
                <a:blip r:embed="rId2"/>
                <a:stretch>
                  <a:fillRect l="-512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183A68D-986D-D024-974E-D68035E69DF9}"/>
              </a:ext>
            </a:extLst>
          </p:cNvPr>
          <p:cNvSpPr/>
          <p:nvPr/>
        </p:nvSpPr>
        <p:spPr>
          <a:xfrm>
            <a:off x="2978331" y="5355771"/>
            <a:ext cx="2090058" cy="653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9726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836A-DAB1-708E-ED7D-A487161F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Equations &amp; S-domain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A639E9-EB54-F65B-DEB6-4F0F075E519D}"/>
                  </a:ext>
                </a:extLst>
              </p:cNvPr>
              <p:cNvSpPr txBox="1"/>
              <p:nvPr/>
            </p:nvSpPr>
            <p:spPr>
              <a:xfrm>
                <a:off x="535576" y="1690688"/>
                <a:ext cx="10413274" cy="4305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R" b="1" dirty="0"/>
                  <a:t>Generic equation</a:t>
                </a:r>
                <a:r>
                  <a:rPr lang="en-GR" b="1" dirty="0">
                    <a:sym typeface="Wingdings" pitchFamily="2" charset="2"/>
                  </a:rPr>
                  <a:t> (for both chambers):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𝐂</m:t>
                      </m:r>
                      <m:f>
                        <m:f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𝐝𝐓</m:t>
                          </m:r>
                        </m:num>
                        <m:den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𝐝𝐭</m:t>
                          </m:r>
                        </m:den>
                      </m:f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𝐭𝐨𝐭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𝐭𝐨𝐭</m:t>
                          </m:r>
                        </m:sub>
                      </m:sSub>
                      <m:r>
                        <a:rPr lang="el-GR" b="1" i="0" smtClean="0">
                          <a:latin typeface="Cambria Math" panose="02040503050406030204" pitchFamily="18" charset="0"/>
                        </a:rPr>
                        <m:t>𝚫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𝐓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GR" dirty="0"/>
                  <a:t>Assume: </a:t>
                </a:r>
                <a:r>
                  <a:rPr lang="el-GR" dirty="0"/>
                  <a:t>θ = Δ</a:t>
                </a:r>
                <a:r>
                  <a:rPr lang="en-US" dirty="0"/>
                  <a:t>T</a:t>
                </a:r>
                <a:endParaRPr lang="en-GR" dirty="0"/>
              </a:p>
              <a:p>
                <a:r>
                  <a:rPr lang="en-GR" dirty="0"/>
                  <a:t>Substitute: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acc>
                      <m:accPr>
                        <m:chr m:val="̇"/>
                        <m:ctrlPr>
                          <a:rPr lang="en-G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l-G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tot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tot</m:t>
                        </m:r>
                      </m:sub>
                    </m:sSub>
                    <m:r>
                      <m:rPr>
                        <m:sty m:val="p"/>
                      </m:rPr>
                      <a:rPr lang="el-GR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l-GR" b="0" i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acc>
                      <m:accPr>
                        <m:chr m:val="̇"/>
                        <m:ctrlPr>
                          <a:rPr lang="en-G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l-G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b="0" i="0" smtClean="0"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</m:oMath>
                </a14:m>
                <a:endParaRPr lang="en-US" b="0" dirty="0"/>
              </a:p>
              <a:p>
                <a:endParaRPr lang="en-GR" dirty="0"/>
              </a:p>
              <a:p>
                <a:r>
                  <a:rPr lang="en-GR" dirty="0"/>
                  <a:t>Generic form of 1st order systems: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GR" dirty="0"/>
              </a:p>
              <a:p>
                <a:endParaRPr lang="en-GR" dirty="0"/>
              </a:p>
              <a:p>
                <a:r>
                  <a:rPr lang="en-GR" dirty="0"/>
                  <a:t>Substitute: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R" dirty="0"/>
                  <a:t>, </a:t>
                </a:r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l-G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GR" dirty="0"/>
              </a:p>
              <a:p>
                <a:endParaRPr lang="en-GR" dirty="0"/>
              </a:p>
              <a:p>
                <a:r>
                  <a:rPr lang="en-GR" b="1" dirty="0"/>
                  <a:t>System properties: </a:t>
                </a:r>
              </a:p>
              <a:p>
                <a:r>
                  <a:rPr lang="en-GR" dirty="0"/>
                  <a:t>5</a:t>
                </a:r>
                <a:r>
                  <a:rPr lang="el-GR" dirty="0"/>
                  <a:t>τ</a:t>
                </a:r>
                <a:r>
                  <a:rPr lang="en-GR" dirty="0"/>
                  <a:t> ~ 99%ss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den>
                      </m:f>
                    </m:oMath>
                  </m:oMathPara>
                </a14:m>
                <a:endParaRPr lang="en-GR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AA639E9-EB54-F65B-DEB6-4F0F075E5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576" y="1690688"/>
                <a:ext cx="10413274" cy="4305730"/>
              </a:xfrm>
              <a:prstGeom prst="rect">
                <a:avLst/>
              </a:prstGeom>
              <a:blipFill>
                <a:blip r:embed="rId2"/>
                <a:stretch>
                  <a:fillRect l="-609" t="-293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16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9EF79-4D5A-2396-603D-CCA3EFBFF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Lump assumption and Copper cooling block (1/2)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5C5F8D-099D-175D-62FA-DC1838C02BA1}"/>
                  </a:ext>
                </a:extLst>
              </p:cNvPr>
              <p:cNvSpPr txBox="1"/>
              <p:nvPr/>
            </p:nvSpPr>
            <p:spPr>
              <a:xfrm>
                <a:off x="838200" y="2214153"/>
                <a:ext cx="10522132" cy="4221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latin typeface="Cambria Math" panose="02040503050406030204" pitchFamily="18" charset="0"/>
                  </a:rPr>
                  <a:t>Biot Number:</a:t>
                </a: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𝑖𝑛𝑡𝑒𝑟𝑛𝑎𝑙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𝑒𝑥𝑡𝑒𝑟𝑛𝑎𝑙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h𝐿𝑐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≤0.1</m:t>
                      </m:r>
                    </m:oMath>
                  </m:oMathPara>
                </a14:m>
                <a:endParaRPr lang="en-GR" dirty="0"/>
              </a:p>
              <a:p>
                <a:pPr/>
                <a:endParaRPr lang="en-G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R" dirty="0"/>
                  <a:t>h = Convective heat transfer coefficient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𝑐h𝑎𝑟𝑎𝑐𝑡𝑒𝑟𝑖𝑠𝑡𝑖𝑐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𝑙𝑒𝑛𝑔h𝑡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𝑏𝑜𝑑𝑦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𝑠𝑢𝑟𝑓𝑎𝑐𝑒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R" dirty="0"/>
                  <a:t>k = Thermal conductivity of the solid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R" dirty="0"/>
              </a:p>
              <a:p>
                <a:pPr/>
                <a:r>
                  <a:rPr lang="en-GR" b="1" dirty="0"/>
                  <a:t>Bi &lt; 0.1</a:t>
                </a:r>
                <a:r>
                  <a:rPr lang="en-GR" dirty="0"/>
                  <a:t>: Internal resistance is negligible. The temperature inside the body remains nearly uniform, allowing for the use of simple </a:t>
                </a:r>
                <a:r>
                  <a:rPr lang="en-GR" b="1" dirty="0"/>
                  <a:t>lumped capacitance analysis.</a:t>
                </a:r>
              </a:p>
              <a:p>
                <a:pPr/>
                <a:endParaRPr lang="en-GR" b="1" dirty="0"/>
              </a:p>
              <a:p>
                <a:pPr/>
                <a:r>
                  <a:rPr lang="en-GR" b="1" dirty="0"/>
                  <a:t>Bi ≤ 0.1</a:t>
                </a:r>
                <a:r>
                  <a:rPr lang="en-GR" dirty="0"/>
                  <a:t>: Internal resistance dominates. Significant temperature gradients occur, requiring full, complex transient conduction equations to calculate.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D5C5F8D-099D-175D-62FA-DC1838C02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14153"/>
                <a:ext cx="10522132" cy="4221220"/>
              </a:xfrm>
              <a:prstGeom prst="rect">
                <a:avLst/>
              </a:prstGeom>
              <a:blipFill>
                <a:blip r:embed="rId2"/>
                <a:stretch>
                  <a:fillRect l="-603" t="-601" b="-1502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9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0FFADF4-B209-896D-80FB-E8E6B8E2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R" dirty="0"/>
              <a:t>Lump assumption and Copper cooling block (1/2)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8CED3-252B-FA3B-8B97-7E4C7AB5A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" y="3903371"/>
            <a:ext cx="4005943" cy="25895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F3203-D12F-A045-1F0F-8AA7B8020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92" y="4076891"/>
            <a:ext cx="2333143" cy="2242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5DCE8A-378A-D660-45A3-57359EBDC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460" y="4394655"/>
            <a:ext cx="4069080" cy="16069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3D9B1C-76BF-84B4-4FD9-D3EFCF8B8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068" y="1690688"/>
            <a:ext cx="2417717" cy="23560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8E61E1-074A-A351-1633-C650A4D06DEB}"/>
              </a:ext>
            </a:extLst>
          </p:cNvPr>
          <p:cNvSpPr txBox="1"/>
          <p:nvPr/>
        </p:nvSpPr>
        <p:spPr>
          <a:xfrm>
            <a:off x="1234440" y="2383971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dirty="0"/>
              <a:t>~200TDP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25BF03-5FC3-9131-BECA-2EA6D18FAEE3}"/>
              </a:ext>
            </a:extLst>
          </p:cNvPr>
          <p:cNvCxnSpPr/>
          <p:nvPr/>
        </p:nvCxnSpPr>
        <p:spPr>
          <a:xfrm>
            <a:off x="2619103" y="2568637"/>
            <a:ext cx="12475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00AD4DA-F306-B560-F9B0-47BA475FC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0238" y="1690688"/>
            <a:ext cx="2824922" cy="224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3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3B62-8260-611E-EAE6-B6635E76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2 Node draft 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F09FA7-3109-3C88-3CA4-502B4E5C1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53" y="2945675"/>
            <a:ext cx="11889447" cy="254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0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956B-DB09-D23F-541F-3F19FEAE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– Wall Thermal 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F80C25-016D-088B-22B9-FF869BA7ECA2}"/>
              </a:ext>
            </a:extLst>
          </p:cNvPr>
          <p:cNvSpPr txBox="1"/>
          <p:nvPr/>
        </p:nvSpPr>
        <p:spPr>
          <a:xfrm>
            <a:off x="869757" y="1778000"/>
            <a:ext cx="97674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Thermal Modeling: Inner Walls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2C64DA-7675-4204-3FCD-3B0DE0E00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53" y="1615747"/>
            <a:ext cx="2726591" cy="69816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CF2F58-951A-7EB6-A525-D6A542CC5F7B}"/>
              </a:ext>
            </a:extLst>
          </p:cNvPr>
          <p:cNvCxnSpPr/>
          <p:nvPr/>
        </p:nvCxnSpPr>
        <p:spPr>
          <a:xfrm>
            <a:off x="4202545" y="1931939"/>
            <a:ext cx="1962727" cy="7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1280AA-08DC-4DE7-C344-D94924F700DE}"/>
                  </a:ext>
                </a:extLst>
              </p:cNvPr>
              <p:cNvSpPr txBox="1"/>
              <p:nvPr/>
            </p:nvSpPr>
            <p:spPr>
              <a:xfrm>
                <a:off x="1002574" y="3130072"/>
                <a:ext cx="1592294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𝑠𝑦𝑠𝑡𝑒𝑚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1280AA-08DC-4DE7-C344-D94924F70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74" y="3130072"/>
                <a:ext cx="1592294" cy="298928"/>
              </a:xfrm>
              <a:prstGeom prst="rect">
                <a:avLst/>
              </a:prstGeom>
              <a:blipFill>
                <a:blip r:embed="rId3"/>
                <a:stretch>
                  <a:fillRect l="-787" b="-20000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49C980D-A4A3-2BAF-BEC3-E5B47C3927CE}"/>
              </a:ext>
            </a:extLst>
          </p:cNvPr>
          <p:cNvSpPr/>
          <p:nvPr/>
        </p:nvSpPr>
        <p:spPr>
          <a:xfrm>
            <a:off x="4395651" y="2717074"/>
            <a:ext cx="920932" cy="37359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R"/>
          </a:p>
        </p:txBody>
      </p:sp>
      <p:sp>
        <p:nvSpPr>
          <p:cNvPr id="8" name="Thermal Flow Arrow">
            <a:extLst>
              <a:ext uri="{FF2B5EF4-FFF2-40B4-BE49-F238E27FC236}">
                <a16:creationId xmlns:a16="http://schemas.microsoft.com/office/drawing/2014/main" id="{B57A4E56-8CB7-5521-CE8D-64B42E4E303D}"/>
              </a:ext>
            </a:extLst>
          </p:cNvPr>
          <p:cNvSpPr/>
          <p:nvPr/>
        </p:nvSpPr>
        <p:spPr>
          <a:xfrm rot="5400000">
            <a:off x="4151927" y="2963962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9" name="Thermal Flow Arrow">
            <a:extLst>
              <a:ext uri="{FF2B5EF4-FFF2-40B4-BE49-F238E27FC236}">
                <a16:creationId xmlns:a16="http://schemas.microsoft.com/office/drawing/2014/main" id="{536CA9F9-19A3-5B0F-CC3B-528D4516F28F}"/>
              </a:ext>
            </a:extLst>
          </p:cNvPr>
          <p:cNvSpPr/>
          <p:nvPr/>
        </p:nvSpPr>
        <p:spPr>
          <a:xfrm rot="5400000">
            <a:off x="4151927" y="3561820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1" name="Thermal Flow Arrow">
            <a:extLst>
              <a:ext uri="{FF2B5EF4-FFF2-40B4-BE49-F238E27FC236}">
                <a16:creationId xmlns:a16="http://schemas.microsoft.com/office/drawing/2014/main" id="{68A25523-4E0A-B296-3C3F-82209B231B37}"/>
              </a:ext>
            </a:extLst>
          </p:cNvPr>
          <p:cNvSpPr/>
          <p:nvPr/>
        </p:nvSpPr>
        <p:spPr>
          <a:xfrm rot="5400000">
            <a:off x="4178924" y="4138852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2" name="Thermal Flow Arrow">
            <a:extLst>
              <a:ext uri="{FF2B5EF4-FFF2-40B4-BE49-F238E27FC236}">
                <a16:creationId xmlns:a16="http://schemas.microsoft.com/office/drawing/2014/main" id="{8D10E85D-FAC2-893A-1106-FA0DCEE23E93}"/>
              </a:ext>
            </a:extLst>
          </p:cNvPr>
          <p:cNvSpPr/>
          <p:nvPr/>
        </p:nvSpPr>
        <p:spPr>
          <a:xfrm rot="5400000">
            <a:off x="4178924" y="4715884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3" name="Thermal Flow Arrow">
            <a:extLst>
              <a:ext uri="{FF2B5EF4-FFF2-40B4-BE49-F238E27FC236}">
                <a16:creationId xmlns:a16="http://schemas.microsoft.com/office/drawing/2014/main" id="{3A005110-3790-309B-A6B8-F9D4B0253A43}"/>
              </a:ext>
            </a:extLst>
          </p:cNvPr>
          <p:cNvSpPr/>
          <p:nvPr/>
        </p:nvSpPr>
        <p:spPr>
          <a:xfrm rot="5400000">
            <a:off x="4178923" y="5386861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4" name="Thermal Flow Arrow">
            <a:extLst>
              <a:ext uri="{FF2B5EF4-FFF2-40B4-BE49-F238E27FC236}">
                <a16:creationId xmlns:a16="http://schemas.microsoft.com/office/drawing/2014/main" id="{14E5EBBA-41D0-F318-354E-3F7895BAD5DB}"/>
              </a:ext>
            </a:extLst>
          </p:cNvPr>
          <p:cNvSpPr/>
          <p:nvPr/>
        </p:nvSpPr>
        <p:spPr>
          <a:xfrm rot="5400000">
            <a:off x="4151927" y="6007220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5" name="Thermal Flow Arrow">
            <a:extLst>
              <a:ext uri="{FF2B5EF4-FFF2-40B4-BE49-F238E27FC236}">
                <a16:creationId xmlns:a16="http://schemas.microsoft.com/office/drawing/2014/main" id="{50646939-DCEA-2657-17F6-3A7F59839C0D}"/>
              </a:ext>
            </a:extLst>
          </p:cNvPr>
          <p:cNvSpPr/>
          <p:nvPr/>
        </p:nvSpPr>
        <p:spPr>
          <a:xfrm rot="16200000">
            <a:off x="5536757" y="2913344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6" name="Thermal Flow Arrow">
            <a:extLst>
              <a:ext uri="{FF2B5EF4-FFF2-40B4-BE49-F238E27FC236}">
                <a16:creationId xmlns:a16="http://schemas.microsoft.com/office/drawing/2014/main" id="{A109B95D-36B3-4BF8-9861-8273828570A9}"/>
              </a:ext>
            </a:extLst>
          </p:cNvPr>
          <p:cNvSpPr/>
          <p:nvPr/>
        </p:nvSpPr>
        <p:spPr>
          <a:xfrm rot="16200000">
            <a:off x="5536757" y="3561819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8" name="Thermal Flow Arrow">
            <a:extLst>
              <a:ext uri="{FF2B5EF4-FFF2-40B4-BE49-F238E27FC236}">
                <a16:creationId xmlns:a16="http://schemas.microsoft.com/office/drawing/2014/main" id="{458A7091-E5AD-0C83-E9C1-1C3232A7DA59}"/>
              </a:ext>
            </a:extLst>
          </p:cNvPr>
          <p:cNvSpPr/>
          <p:nvPr/>
        </p:nvSpPr>
        <p:spPr>
          <a:xfrm rot="16200000">
            <a:off x="5536756" y="4138851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19" name="Thermal Flow Arrow">
            <a:extLst>
              <a:ext uri="{FF2B5EF4-FFF2-40B4-BE49-F238E27FC236}">
                <a16:creationId xmlns:a16="http://schemas.microsoft.com/office/drawing/2014/main" id="{BDDB0D5B-CF0E-5963-8399-F3BDEC6E8547}"/>
              </a:ext>
            </a:extLst>
          </p:cNvPr>
          <p:cNvSpPr/>
          <p:nvPr/>
        </p:nvSpPr>
        <p:spPr>
          <a:xfrm rot="16200000">
            <a:off x="5536755" y="4712366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0" name="Thermal Flow Arrow">
            <a:extLst>
              <a:ext uri="{FF2B5EF4-FFF2-40B4-BE49-F238E27FC236}">
                <a16:creationId xmlns:a16="http://schemas.microsoft.com/office/drawing/2014/main" id="{9084FA63-BBA7-4B2B-8B66-49064406563C}"/>
              </a:ext>
            </a:extLst>
          </p:cNvPr>
          <p:cNvSpPr/>
          <p:nvPr/>
        </p:nvSpPr>
        <p:spPr>
          <a:xfrm rot="16200000">
            <a:off x="5536754" y="5386861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1" name="Thermal Flow Arrow">
            <a:extLst>
              <a:ext uri="{FF2B5EF4-FFF2-40B4-BE49-F238E27FC236}">
                <a16:creationId xmlns:a16="http://schemas.microsoft.com/office/drawing/2014/main" id="{474DEF75-2401-4616-5BEC-43F986464ED1}"/>
              </a:ext>
            </a:extLst>
          </p:cNvPr>
          <p:cNvSpPr/>
          <p:nvPr/>
        </p:nvSpPr>
        <p:spPr>
          <a:xfrm rot="16200000">
            <a:off x="5459072" y="6035335"/>
            <a:ext cx="101235" cy="332219"/>
          </a:xfrm>
          <a:custGeom>
            <a:avLst/>
            <a:gdLst/>
            <a:ahLst/>
            <a:cxnLst/>
            <a:rect l="0" t="0" r="0" b="0"/>
            <a:pathLst>
              <a:path w="240" h="700">
                <a:moveTo>
                  <a:pt x="120" y="0"/>
                </a:moveTo>
                <a:lnTo>
                  <a:pt x="170" y="170"/>
                </a:lnTo>
                <a:lnTo>
                  <a:pt x="150" y="170"/>
                </a:lnTo>
                <a:cubicBezTo>
                  <a:pt x="150" y="223"/>
                  <a:pt x="90" y="277"/>
                  <a:pt x="90" y="330"/>
                </a:cubicBezTo>
                <a:cubicBezTo>
                  <a:pt x="90" y="383"/>
                  <a:pt x="210" y="437"/>
                  <a:pt x="210" y="490"/>
                </a:cubicBezTo>
                <a:cubicBezTo>
                  <a:pt x="210" y="553"/>
                  <a:pt x="130" y="617"/>
                  <a:pt x="130" y="680"/>
                </a:cubicBezTo>
                <a:lnTo>
                  <a:pt x="70" y="680"/>
                </a:lnTo>
                <a:cubicBezTo>
                  <a:pt x="70" y="617"/>
                  <a:pt x="150" y="553"/>
                  <a:pt x="150" y="490"/>
                </a:cubicBezTo>
                <a:cubicBezTo>
                  <a:pt x="150" y="437"/>
                  <a:pt x="30" y="383"/>
                  <a:pt x="30" y="330"/>
                </a:cubicBezTo>
                <a:cubicBezTo>
                  <a:pt x="30" y="277"/>
                  <a:pt x="90" y="223"/>
                  <a:pt x="90" y="170"/>
                </a:cubicBezTo>
                <a:lnTo>
                  <a:pt x="70" y="170"/>
                </a:lnTo>
                <a:lnTo>
                  <a:pt x="120" y="0"/>
                </a:lnTo>
                <a:close/>
              </a:path>
            </a:pathLst>
          </a:custGeom>
          <a:solidFill>
            <a:srgbClr val="D32F2F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66AEF3-FA70-0088-E2F3-B3714190884B}"/>
              </a:ext>
            </a:extLst>
          </p:cNvPr>
          <p:cNvSpPr txBox="1"/>
          <p:nvPr/>
        </p:nvSpPr>
        <p:spPr>
          <a:xfrm>
            <a:off x="2762794" y="5114109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endParaRPr lang="en-GR" baseline="-25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B01427-40BA-C843-90A4-039F1418CA61}"/>
              </a:ext>
            </a:extLst>
          </p:cNvPr>
          <p:cNvSpPr txBox="1"/>
          <p:nvPr/>
        </p:nvSpPr>
        <p:spPr>
          <a:xfrm>
            <a:off x="6096000" y="5114109"/>
            <a:ext cx="358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n-GR" baseline="-25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9C1DAB-E059-65EA-627C-2EDD7D13A878}"/>
              </a:ext>
            </a:extLst>
          </p:cNvPr>
          <p:cNvSpPr txBox="1"/>
          <p:nvPr/>
        </p:nvSpPr>
        <p:spPr>
          <a:xfrm>
            <a:off x="4729648" y="5114109"/>
            <a:ext cx="559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wall</a:t>
            </a:r>
            <a:endParaRPr lang="en-GR" baseline="-25000" dirty="0"/>
          </a:p>
        </p:txBody>
      </p:sp>
    </p:spTree>
    <p:extLst>
      <p:ext uri="{BB962C8B-B14F-4D97-AF65-F5344CB8AC3E}">
        <p14:creationId xmlns:p14="http://schemas.microsoft.com/office/powerpoint/2010/main" val="262793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9DFB72-8DEC-EA4A-AE7F-8B09FB37005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9d698786-a819-4b91-ae4a-681c523d577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561</Words>
  <Application>Microsoft Macintosh PowerPoint</Application>
  <PresentationFormat>Widescreen</PresentationFormat>
  <Paragraphs>124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Double Jacket Chamber</vt:lpstr>
      <vt:lpstr>Thermodynamics Laws </vt:lpstr>
      <vt:lpstr>Inner Chamber modeling</vt:lpstr>
      <vt:lpstr>Outer Chamber Modeling</vt:lpstr>
      <vt:lpstr>Thermal Capacitance </vt:lpstr>
      <vt:lpstr>Equations &amp; S-domain</vt:lpstr>
      <vt:lpstr>Lump assumption and Copper cooling block (1/2)</vt:lpstr>
      <vt:lpstr>Lump assumption and Copper cooling block (1/2)</vt:lpstr>
      <vt:lpstr>2 Node draft block diagram</vt:lpstr>
      <vt:lpstr>Next Steps – Wall Thermal modeling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Vasilis Gkionis</dc:creator>
  <cp:lastModifiedBy>Vasilis Gkionis</cp:lastModifiedBy>
  <cp:revision>18</cp:revision>
  <dcterms:created xsi:type="dcterms:W3CDTF">2026-07-22T11:43:50Z</dcterms:created>
  <dcterms:modified xsi:type="dcterms:W3CDTF">2026-07-23T09:25:42Z</dcterms:modified>
</cp:coreProperties>
</file>