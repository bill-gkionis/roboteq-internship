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15" d="100"/>
          <a:sy n="115" d="100"/>
        </p:scale>
        <p:origin x="10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BF4C-28EE-46AC-1EB9-95F1C8091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2EA69-2842-69F1-E59F-4E641F9CD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B00E1-6813-6551-F778-67FC89DF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E5689-196A-0C46-31C2-40722A50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9157-DDD5-6775-F28C-32DB06B2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90703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612C-E67B-F10D-CD96-6084E811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1AC5-54ED-0EE9-091C-7856B1A48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EB3E7-D845-0014-DA55-C1335442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8FDD-D122-1ABE-8B13-BC254A9B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E53C8-2B3C-C329-7937-99EE7E7A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8191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8A62-E568-C54D-5E87-25FCF24D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9152D-2BBD-253F-5B32-9E027AF04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7829C-5A27-63C8-00ED-72802FB69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5EBF4-F555-7C16-EE74-68BAD139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A7ECC-7780-A066-65C8-DE2E6BDA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9793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97C7-2877-5910-464A-C0A0860F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20458-F1FF-A40C-A0B0-A94071DB9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7904E-69B5-2310-7723-D157573E8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4F8B6-0DAD-B6E7-F2DB-73336ABB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EF3F4-9FF4-7418-AE43-6A35A8E8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6D9BE-0E24-E457-BB9D-661894B3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71822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5883-C994-AA5B-0E78-C1555078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F3BF2-5377-B914-4051-53C51485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A4294-0AAD-C664-A374-781133949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7E9FF-7EBC-AE6C-5609-E884C503A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4FAD9-555B-F7BE-45DC-AA2B71CB0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E5F78-85EF-DE0B-8868-CE27D55F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5BFD0-2C30-E0C4-86F0-7ADE9882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D44AE-D21A-FC17-79C6-A96E5CD3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72060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FCD2-1672-6293-ACED-49F26B8F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477D8-0F28-F784-BFAB-EE2F2215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9ACF5-EBC9-6D53-6346-6026DB81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2F154-CAA4-7F8C-192C-6D651ECA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9136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0A1E1-C955-F405-3DA4-EC1BE26F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41FD27-4EA1-EB17-D54E-08B3CAF8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5DCC-95C0-E41D-0529-C82EE401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0482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4F56-64CE-EF35-4058-8BF03950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D245-336F-1FB2-2E08-20B70F6E1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4E475-8619-D2E2-3A49-601857747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BDEFF-9B1E-B93A-F820-5CA5A10B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C43E9-31CE-DCAC-4CA3-B76D2E208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AC1B4-D5D6-B5AA-CC18-A77FF5BB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1546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9EC9-C67B-DAF2-2ED5-980F75FC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1DF63-9631-2BD6-A9C4-02AFFADDA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239BC-4F5C-8313-644A-50AEB8C42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76ED3-2CAA-AEA4-778D-211D6B0C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F211-0189-A47C-9B91-A60859B4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83E01-F22A-B85F-1409-DBFFA7EC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7942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1468-84C4-8626-2CBE-77F9DD23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7BD15-3D15-F0F4-5EE4-4D5A589E8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3019D-A76F-A8AC-75D8-5706111C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2265A-395D-27E9-FAAB-A1D28B97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C1402-4AC4-7448-A376-5455B456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34163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689744-4F54-7AE8-6030-EF8D64D72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84FD1-CA6E-877D-8F18-6C44DB3C3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0CE9-D49F-F0D8-2537-996343D5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068D9-63B8-593A-988E-225529BD6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4FECB-0A4A-A774-9271-C25F4F38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2634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340FE-5321-3E23-6BAB-9667F24FD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51313-8CA2-1050-432C-9EF205610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C669E-0F78-0975-2836-3A7D17D72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ABE0D-BEF0-A040-9529-6256E3BDA5FB}" type="datetimeFigureOut">
              <a:rPr lang="en-GR" smtClean="0"/>
              <a:t>31/8/26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83E31-F383-580F-00F3-4B7B19F56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A7D1D-92B6-39EC-E6DD-6399812AC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C216B-0BF9-1C40-9354-D0AFC60DE77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9952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D67D-5D6C-669E-A176-CA3B228CC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R" dirty="0"/>
              <a:t>Calorimeter for High Efficiency converters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2C014-4DAC-3C2B-2145-97EB31303D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R" dirty="0"/>
              <a:t>Design and Modeling </a:t>
            </a:r>
          </a:p>
          <a:p>
            <a:r>
              <a:rPr lang="en-GR" dirty="0"/>
              <a:t>Internship(July 01 – August 31 2026)</a:t>
            </a:r>
          </a:p>
        </p:txBody>
      </p:sp>
    </p:spTree>
    <p:extLst>
      <p:ext uri="{BB962C8B-B14F-4D97-AF65-F5344CB8AC3E}">
        <p14:creationId xmlns:p14="http://schemas.microsoft.com/office/powerpoint/2010/main" val="2828955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C096222-B653-1296-BA1F-1277552B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Jacket Chamber</a:t>
            </a:r>
            <a:endParaRPr lang="el-GR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D714D51E-7BDD-BFCB-382E-6FF288C54211}"/>
              </a:ext>
            </a:extLst>
          </p:cNvPr>
          <p:cNvSpPr/>
          <p:nvPr/>
        </p:nvSpPr>
        <p:spPr>
          <a:xfrm>
            <a:off x="2148469" y="2276087"/>
            <a:ext cx="3947531" cy="323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1A4EE32C-74A0-4A76-6AF5-E4C750DD3348}"/>
              </a:ext>
            </a:extLst>
          </p:cNvPr>
          <p:cNvSpPr/>
          <p:nvPr/>
        </p:nvSpPr>
        <p:spPr>
          <a:xfrm>
            <a:off x="2850995" y="2644077"/>
            <a:ext cx="2548053" cy="1940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DB7B9A97-428C-8F70-2F96-6EC858596E61}"/>
              </a:ext>
            </a:extLst>
          </p:cNvPr>
          <p:cNvCxnSpPr/>
          <p:nvPr/>
        </p:nvCxnSpPr>
        <p:spPr>
          <a:xfrm>
            <a:off x="3486615" y="3614233"/>
            <a:ext cx="1326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62AEC2D3-B49A-2793-9B9D-877BCB075D00}"/>
              </a:ext>
            </a:extLst>
          </p:cNvPr>
          <p:cNvSpPr/>
          <p:nvPr/>
        </p:nvSpPr>
        <p:spPr>
          <a:xfrm>
            <a:off x="3367053" y="3891777"/>
            <a:ext cx="830765" cy="5464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4C93D-928B-4502-49F4-C5801B48A231}"/>
              </a:ext>
            </a:extLst>
          </p:cNvPr>
          <p:cNvSpPr txBox="1"/>
          <p:nvPr/>
        </p:nvSpPr>
        <p:spPr>
          <a:xfrm>
            <a:off x="3447898" y="3991465"/>
            <a:ext cx="66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DUT</a:t>
            </a:r>
            <a:endParaRPr lang="el-GR" b="1" dirty="0"/>
          </a:p>
        </p:txBody>
      </p:sp>
      <p:sp>
        <p:nvSpPr>
          <p:cNvPr id="10" name="Έλλειψη 9">
            <a:extLst>
              <a:ext uri="{FF2B5EF4-FFF2-40B4-BE49-F238E27FC236}">
                <a16:creationId xmlns:a16="http://schemas.microsoft.com/office/drawing/2014/main" id="{BA87025C-73BD-2311-8273-A559E1B0A4ED}"/>
              </a:ext>
            </a:extLst>
          </p:cNvPr>
          <p:cNvSpPr/>
          <p:nvPr/>
        </p:nvSpPr>
        <p:spPr>
          <a:xfrm>
            <a:off x="4738494" y="2883208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Έλλειψη 10">
            <a:extLst>
              <a:ext uri="{FF2B5EF4-FFF2-40B4-BE49-F238E27FC236}">
                <a16:creationId xmlns:a16="http://schemas.microsoft.com/office/drawing/2014/main" id="{C5E0002E-8118-98A6-DB1C-0952FD9B88D7}"/>
              </a:ext>
            </a:extLst>
          </p:cNvPr>
          <p:cNvSpPr/>
          <p:nvPr/>
        </p:nvSpPr>
        <p:spPr>
          <a:xfrm>
            <a:off x="4738494" y="3039326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Έλλειψη 12">
            <a:extLst>
              <a:ext uri="{FF2B5EF4-FFF2-40B4-BE49-F238E27FC236}">
                <a16:creationId xmlns:a16="http://schemas.microsoft.com/office/drawing/2014/main" id="{2860D69D-F76D-FB37-D5BD-E72198CED76E}"/>
              </a:ext>
            </a:extLst>
          </p:cNvPr>
          <p:cNvSpPr/>
          <p:nvPr/>
        </p:nvSpPr>
        <p:spPr>
          <a:xfrm>
            <a:off x="5229923" y="4866568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Έλλειψη 13">
            <a:extLst>
              <a:ext uri="{FF2B5EF4-FFF2-40B4-BE49-F238E27FC236}">
                <a16:creationId xmlns:a16="http://schemas.microsoft.com/office/drawing/2014/main" id="{E9D49909-6F18-C835-7452-A8912BE32EEC}"/>
              </a:ext>
            </a:extLst>
          </p:cNvPr>
          <p:cNvSpPr/>
          <p:nvPr/>
        </p:nvSpPr>
        <p:spPr>
          <a:xfrm>
            <a:off x="5229923" y="5022686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1" name="Resistor heater (i)"/>
          <p:cNvSpPr/>
          <p:nvPr/>
        </p:nvSpPr>
        <p:spPr>
          <a:xfrm>
            <a:off x="4353476" y="4117858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22" name="Resistor heater (e)"/>
          <p:cNvSpPr/>
          <p:nvPr/>
        </p:nvSpPr>
        <p:spPr>
          <a:xfrm>
            <a:off x="4046654" y="4958575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12" name="Καμπύλο αριστερό βέλος 11">
            <a:extLst>
              <a:ext uri="{FF2B5EF4-FFF2-40B4-BE49-F238E27FC236}">
                <a16:creationId xmlns:a16="http://schemas.microsoft.com/office/drawing/2014/main" id="{BF6620EE-B03B-4E72-C77D-F4A569B0BB97}"/>
              </a:ext>
            </a:extLst>
          </p:cNvPr>
          <p:cNvSpPr/>
          <p:nvPr/>
        </p:nvSpPr>
        <p:spPr>
          <a:xfrm>
            <a:off x="5036635" y="3014882"/>
            <a:ext cx="237893" cy="105467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sp>
        <p:nvSpPr>
          <p:cNvPr id="15" name="Καμπύλο αριστερό βέλος 14">
            <a:extLst>
              <a:ext uri="{FF2B5EF4-FFF2-40B4-BE49-F238E27FC236}">
                <a16:creationId xmlns:a16="http://schemas.microsoft.com/office/drawing/2014/main" id="{704C494E-855B-FB3E-A4A5-B10B93508C16}"/>
              </a:ext>
            </a:extLst>
          </p:cNvPr>
          <p:cNvSpPr/>
          <p:nvPr/>
        </p:nvSpPr>
        <p:spPr>
          <a:xfrm rot="10800000">
            <a:off x="2960495" y="3008650"/>
            <a:ext cx="237893" cy="1054677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3" name="Radiator"/>
          <p:cNvSpPr/>
          <p:nvPr/>
        </p:nvSpPr>
        <p:spPr>
          <a:xfrm>
            <a:off x="3356674" y="1993909"/>
            <a:ext cx="1257300" cy="1231900"/>
          </a:xfrm>
          <a:custGeom>
            <a:avLst/>
            <a:gdLst/>
            <a:ahLst/>
            <a:cxnLst/>
            <a:rect l="0" t="0" r="990" b="970"/>
            <a:pathLst>
              <a:path w="990" h="970" fill="none">
                <a:moveTo>
                  <a:pt x="0" y="0"/>
                </a:moveTo>
                <a:lnTo>
                  <a:pt x="0" y="925"/>
                </a:lnTo>
                <a:arcTo wR="45" hR="45" stAng="10800000" swAng="-10800000"/>
                <a:lnTo>
                  <a:pt x="90" y="755"/>
                </a:lnTo>
                <a:arcTo wR="45" hR="45" stAng="10800000" swAng="10800000"/>
                <a:lnTo>
                  <a:pt x="180" y="925"/>
                </a:lnTo>
                <a:arcTo wR="45" hR="45" stAng="10800000" swAng="-10800000"/>
                <a:lnTo>
                  <a:pt x="270" y="755"/>
                </a:lnTo>
                <a:arcTo wR="45" hR="45" stAng="10800000" swAng="10800000"/>
                <a:lnTo>
                  <a:pt x="360" y="925"/>
                </a:lnTo>
                <a:arcTo wR="45" hR="45" stAng="10800000" swAng="-10800000"/>
                <a:lnTo>
                  <a:pt x="450" y="755"/>
                </a:lnTo>
                <a:arcTo wR="45" hR="45" stAng="10800000" swAng="10800000"/>
                <a:lnTo>
                  <a:pt x="540" y="925"/>
                </a:lnTo>
                <a:arcTo wR="45" hR="45" stAng="10800000" swAng="-10800000"/>
                <a:lnTo>
                  <a:pt x="630" y="755"/>
                </a:lnTo>
                <a:arcTo wR="45" hR="45" stAng="10800000" swAng="10800000"/>
                <a:lnTo>
                  <a:pt x="720" y="925"/>
                </a:lnTo>
                <a:arcTo wR="45" hR="45" stAng="10800000" swAng="-10800000"/>
                <a:lnTo>
                  <a:pt x="810" y="755"/>
                </a:lnTo>
                <a:arcTo wR="45" hR="45" stAng="10800000" swAng="10800000"/>
                <a:lnTo>
                  <a:pt x="900" y="925"/>
                </a:lnTo>
                <a:arcTo wR="45" hR="45" stAng="10800000" swAng="-10800000"/>
                <a:lnTo>
                  <a:pt x="99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6" name="Καμπύλο αριστερό βέλος 5">
            <a:extLst>
              <a:ext uri="{FF2B5EF4-FFF2-40B4-BE49-F238E27FC236}">
                <a16:creationId xmlns:a16="http://schemas.microsoft.com/office/drawing/2014/main" id="{C6249B7E-9AEB-FECE-8D73-32E3C2C11E8F}"/>
              </a:ext>
            </a:extLst>
          </p:cNvPr>
          <p:cNvSpPr/>
          <p:nvPr/>
        </p:nvSpPr>
        <p:spPr>
          <a:xfrm rot="10800000">
            <a:off x="2334042" y="2364115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6" name="Καμπύλο αριστερό βέλος 15">
            <a:extLst>
              <a:ext uri="{FF2B5EF4-FFF2-40B4-BE49-F238E27FC236}">
                <a16:creationId xmlns:a16="http://schemas.microsoft.com/office/drawing/2014/main" id="{33D7070D-0756-1043-673D-1DCA85C2F908}"/>
              </a:ext>
            </a:extLst>
          </p:cNvPr>
          <p:cNvSpPr/>
          <p:nvPr/>
        </p:nvSpPr>
        <p:spPr>
          <a:xfrm>
            <a:off x="5601241" y="2448933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18" name="Ευθύγραμμο βέλος σύνδεσης 17">
            <a:extLst>
              <a:ext uri="{FF2B5EF4-FFF2-40B4-BE49-F238E27FC236}">
                <a16:creationId xmlns:a16="http://schemas.microsoft.com/office/drawing/2014/main" id="{12767D90-F329-1804-39A3-2BFEB7A4B834}"/>
              </a:ext>
            </a:extLst>
          </p:cNvPr>
          <p:cNvCxnSpPr/>
          <p:nvPr/>
        </p:nvCxnSpPr>
        <p:spPr>
          <a:xfrm>
            <a:off x="3198388" y="4438184"/>
            <a:ext cx="0" cy="58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14BCFC8-3753-17B6-A790-80B2FC90269A}"/>
              </a:ext>
            </a:extLst>
          </p:cNvPr>
          <p:cNvSpPr txBox="1"/>
          <p:nvPr/>
        </p:nvSpPr>
        <p:spPr>
          <a:xfrm>
            <a:off x="3192244" y="4775676"/>
            <a:ext cx="63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leak</a:t>
            </a:r>
            <a:endParaRPr lang="el-GR" baseline="-25000" dirty="0"/>
          </a:p>
        </p:txBody>
      </p:sp>
      <p:cxnSp>
        <p:nvCxnSpPr>
          <p:cNvPr id="25" name="Ευθύγραμμο βέλος σύνδεσης 24">
            <a:extLst>
              <a:ext uri="{FF2B5EF4-FFF2-40B4-BE49-F238E27FC236}">
                <a16:creationId xmlns:a16="http://schemas.microsoft.com/office/drawing/2014/main" id="{BF69047F-D663-145A-40FD-B583678CE819}"/>
              </a:ext>
            </a:extLst>
          </p:cNvPr>
          <p:cNvCxnSpPr>
            <a:cxnSpLocks/>
          </p:cNvCxnSpPr>
          <p:nvPr/>
        </p:nvCxnSpPr>
        <p:spPr>
          <a:xfrm flipH="1" flipV="1">
            <a:off x="4897860" y="5064726"/>
            <a:ext cx="257721" cy="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3B904E-DB6F-80DF-96C4-893F6CA7F589}"/>
              </a:ext>
            </a:extLst>
          </p:cNvPr>
          <p:cNvSpPr txBox="1"/>
          <p:nvPr/>
        </p:nvSpPr>
        <p:spPr>
          <a:xfrm>
            <a:off x="3057577" y="1570004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out</a:t>
            </a:r>
            <a:endParaRPr lang="el-GR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C23CDD-EBE1-E9F1-1B60-17241DA7F329}"/>
              </a:ext>
            </a:extLst>
          </p:cNvPr>
          <p:cNvSpPr txBox="1"/>
          <p:nvPr/>
        </p:nvSpPr>
        <p:spPr>
          <a:xfrm>
            <a:off x="4197818" y="1566471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in</a:t>
            </a:r>
            <a:endParaRPr lang="el-GR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EE83FA-8F03-D2C6-3A57-C7F1F9AA97B2}"/>
              </a:ext>
            </a:extLst>
          </p:cNvPr>
          <p:cNvSpPr txBox="1"/>
          <p:nvPr/>
        </p:nvSpPr>
        <p:spPr>
          <a:xfrm>
            <a:off x="2742425" y="4992950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7176E3-1254-A771-CE7E-C823B7807AE7}"/>
              </a:ext>
            </a:extLst>
          </p:cNvPr>
          <p:cNvSpPr txBox="1"/>
          <p:nvPr/>
        </p:nvSpPr>
        <p:spPr>
          <a:xfrm>
            <a:off x="2392906" y="5565443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a</a:t>
            </a:r>
            <a:endParaRPr lang="el-GR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274DB2-6BC9-D457-3053-FF76AAB6351B}"/>
              </a:ext>
            </a:extLst>
          </p:cNvPr>
          <p:cNvSpPr txBox="1"/>
          <p:nvPr/>
        </p:nvSpPr>
        <p:spPr>
          <a:xfrm>
            <a:off x="2832865" y="4107416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endParaRPr lang="el-GR" baseline="-25000" dirty="0"/>
          </a:p>
        </p:txBody>
      </p:sp>
      <p:cxnSp>
        <p:nvCxnSpPr>
          <p:cNvPr id="33" name="Ευθεία γραμμή σύνδεσης 32">
            <a:extLst>
              <a:ext uri="{FF2B5EF4-FFF2-40B4-BE49-F238E27FC236}">
                <a16:creationId xmlns:a16="http://schemas.microsoft.com/office/drawing/2014/main" id="{DAA7C9C4-9406-5FF6-5A4C-352A76DBCAD8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2942188" y="4490428"/>
            <a:ext cx="569794" cy="654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Ευθεία γραμμή σύνδεσης 33">
            <a:extLst>
              <a:ext uri="{FF2B5EF4-FFF2-40B4-BE49-F238E27FC236}">
                <a16:creationId xmlns:a16="http://schemas.microsoft.com/office/drawing/2014/main" id="{1BD405E2-927F-57E2-A7EC-D7542604CA3D}"/>
              </a:ext>
            </a:extLst>
          </p:cNvPr>
          <p:cNvCxnSpPr>
            <a:cxnSpLocks/>
          </p:cNvCxnSpPr>
          <p:nvPr/>
        </p:nvCxnSpPr>
        <p:spPr>
          <a:xfrm flipH="1">
            <a:off x="2951728" y="4490428"/>
            <a:ext cx="534637" cy="654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C0953E0-0690-A233-899A-C3C29A5B2E70}"/>
              </a:ext>
            </a:extLst>
          </p:cNvPr>
          <p:cNvSpPr txBox="1"/>
          <p:nvPr/>
        </p:nvSpPr>
        <p:spPr>
          <a:xfrm>
            <a:off x="4021170" y="5074621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0F035A-19CA-76B7-E57F-2BECB9D108CC}"/>
              </a:ext>
            </a:extLst>
          </p:cNvPr>
          <p:cNvSpPr txBox="1"/>
          <p:nvPr/>
        </p:nvSpPr>
        <p:spPr>
          <a:xfrm>
            <a:off x="4304149" y="4210204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B549FB-73F5-A810-E1F1-11AB4492E90B}"/>
              </a:ext>
            </a:extLst>
          </p:cNvPr>
          <p:cNvSpPr txBox="1"/>
          <p:nvPr/>
        </p:nvSpPr>
        <p:spPr>
          <a:xfrm>
            <a:off x="4936833" y="5105934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AF39D4-E3C1-B78B-E057-DA8CD202CDC2}"/>
              </a:ext>
            </a:extLst>
          </p:cNvPr>
          <p:cNvSpPr txBox="1"/>
          <p:nvPr/>
        </p:nvSpPr>
        <p:spPr>
          <a:xfrm>
            <a:off x="4540802" y="3226982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56E809-2CEE-DD3D-8D8C-D04B27F29C81}"/>
              </a:ext>
            </a:extLst>
          </p:cNvPr>
          <p:cNvSpPr txBox="1"/>
          <p:nvPr/>
        </p:nvSpPr>
        <p:spPr>
          <a:xfrm>
            <a:off x="7636106" y="2075619"/>
            <a:ext cx="3623773" cy="17851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 Math" panose="02040503050406030204" pitchFamily="18" charset="0"/>
              </a:rPr>
              <a:t>Power Loss calculation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</a:t>
            </a:r>
            <a:r>
              <a:rPr lang="en-US" dirty="0"/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/>
              <a:t> x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r>
              <a:rPr lang="en-US" dirty="0"/>
              <a:t> x </a:t>
            </a: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/>
              <a:t> = coolant mass flow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r>
              <a:rPr lang="en-US" dirty="0"/>
              <a:t> = coolant heat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 </a:t>
            </a:r>
            <a:r>
              <a:rPr lang="en-US" dirty="0"/>
              <a:t>= T</a:t>
            </a:r>
            <a:r>
              <a:rPr lang="en-US" baseline="-25000" dirty="0"/>
              <a:t>out</a:t>
            </a:r>
            <a:r>
              <a:rPr lang="en-US" dirty="0"/>
              <a:t> - T</a:t>
            </a:r>
            <a:r>
              <a:rPr lang="en-US" baseline="-25000" dirty="0"/>
              <a:t>in</a:t>
            </a:r>
            <a:endParaRPr lang="el-GR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FEA6D3-18F7-14F1-DA16-B6E17E3087C9}"/>
                  </a:ext>
                </a:extLst>
              </p:cNvPr>
              <p:cNvSpPr txBox="1"/>
              <p:nvPr/>
            </p:nvSpPr>
            <p:spPr>
              <a:xfrm>
                <a:off x="7575044" y="4491303"/>
                <a:ext cx="3267667" cy="208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Cambria Math" panose="02040503050406030204" pitchFamily="18" charset="0"/>
                  </a:rPr>
                  <a:t>Coefficient of Performance</a:t>
                </a: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or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FEA6D3-18F7-14F1-DA16-B6E17E308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044" y="4491303"/>
                <a:ext cx="3267667" cy="2086725"/>
              </a:xfrm>
              <a:prstGeom prst="rect">
                <a:avLst/>
              </a:prstGeom>
              <a:blipFill>
                <a:blip r:embed="rId2"/>
                <a:stretch>
                  <a:fillRect l="-2052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Ευθύγραμμο βέλος σύνδεσης 48">
            <a:extLst>
              <a:ext uri="{FF2B5EF4-FFF2-40B4-BE49-F238E27FC236}">
                <a16:creationId xmlns:a16="http://schemas.microsoft.com/office/drawing/2014/main" id="{C0182A32-6744-324B-2D42-E308E896F4C5}"/>
              </a:ext>
            </a:extLst>
          </p:cNvPr>
          <p:cNvCxnSpPr>
            <a:cxnSpLocks/>
          </p:cNvCxnSpPr>
          <p:nvPr/>
        </p:nvCxnSpPr>
        <p:spPr>
          <a:xfrm flipV="1">
            <a:off x="3237215" y="1969106"/>
            <a:ext cx="0" cy="282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Ευθύγραμμο βέλος σύνδεσης 50">
            <a:extLst>
              <a:ext uri="{FF2B5EF4-FFF2-40B4-BE49-F238E27FC236}">
                <a16:creationId xmlns:a16="http://schemas.microsoft.com/office/drawing/2014/main" id="{E09ACA1A-6281-2003-ED40-BD0FEC6E0F58}"/>
              </a:ext>
            </a:extLst>
          </p:cNvPr>
          <p:cNvCxnSpPr>
            <a:cxnSpLocks/>
          </p:cNvCxnSpPr>
          <p:nvPr/>
        </p:nvCxnSpPr>
        <p:spPr>
          <a:xfrm>
            <a:off x="4487644" y="1969106"/>
            <a:ext cx="0" cy="282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Ευθύγραμμο βέλος σύνδεσης 57">
            <a:extLst>
              <a:ext uri="{FF2B5EF4-FFF2-40B4-BE49-F238E27FC236}">
                <a16:creationId xmlns:a16="http://schemas.microsoft.com/office/drawing/2014/main" id="{97EC6E26-DB62-38F4-1659-A272839602F8}"/>
              </a:ext>
            </a:extLst>
          </p:cNvPr>
          <p:cNvCxnSpPr>
            <a:stCxn id="31" idx="3"/>
          </p:cNvCxnSpPr>
          <p:nvPr/>
        </p:nvCxnSpPr>
        <p:spPr>
          <a:xfrm flipH="1">
            <a:off x="3447898" y="4292082"/>
            <a:ext cx="2498" cy="172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9" name="Ευθύγραμμο βέλος σύνδεσης 58">
            <a:extLst>
              <a:ext uri="{FF2B5EF4-FFF2-40B4-BE49-F238E27FC236}">
                <a16:creationId xmlns:a16="http://schemas.microsoft.com/office/drawing/2014/main" id="{F6AE3C53-EE30-D0DB-F941-996664A48BED}"/>
              </a:ext>
            </a:extLst>
          </p:cNvPr>
          <p:cNvCxnSpPr>
            <a:cxnSpLocks/>
          </p:cNvCxnSpPr>
          <p:nvPr/>
        </p:nvCxnSpPr>
        <p:spPr>
          <a:xfrm flipV="1">
            <a:off x="3728617" y="4292082"/>
            <a:ext cx="0" cy="1642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B665DA4-67F4-5BB0-57A9-6DDD5EB17F5B}"/>
              </a:ext>
            </a:extLst>
          </p:cNvPr>
          <p:cNvSpPr txBox="1"/>
          <p:nvPr/>
        </p:nvSpPr>
        <p:spPr>
          <a:xfrm>
            <a:off x="3111086" y="5991243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AEF960-0953-2544-78B3-61D516BCC36A}"/>
              </a:ext>
            </a:extLst>
          </p:cNvPr>
          <p:cNvSpPr txBox="1"/>
          <p:nvPr/>
        </p:nvSpPr>
        <p:spPr>
          <a:xfrm>
            <a:off x="3595079" y="5991243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59355A-D53E-1692-7A2F-3C1DDBD6A23B}"/>
              </a:ext>
            </a:extLst>
          </p:cNvPr>
          <p:cNvSpPr txBox="1"/>
          <p:nvPr/>
        </p:nvSpPr>
        <p:spPr>
          <a:xfrm>
            <a:off x="4392544" y="6134468"/>
            <a:ext cx="74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r>
              <a:rPr lang="en-US" dirty="0"/>
              <a:t> &gt; T</a:t>
            </a:r>
            <a:r>
              <a:rPr lang="en-US" baseline="-25000" dirty="0"/>
              <a:t>a</a:t>
            </a:r>
            <a:endParaRPr lang="el-GR" baseline="-25000" dirty="0"/>
          </a:p>
        </p:txBody>
      </p:sp>
      <p:sp>
        <p:nvSpPr>
          <p:cNvPr id="71" name="Δεξιό βέλος 70">
            <a:extLst>
              <a:ext uri="{FF2B5EF4-FFF2-40B4-BE49-F238E27FC236}">
                <a16:creationId xmlns:a16="http://schemas.microsoft.com/office/drawing/2014/main" id="{FDEB0F7E-F124-71BE-C2C1-3FB1099FF456}"/>
              </a:ext>
            </a:extLst>
          </p:cNvPr>
          <p:cNvSpPr/>
          <p:nvPr/>
        </p:nvSpPr>
        <p:spPr>
          <a:xfrm>
            <a:off x="5258621" y="6294404"/>
            <a:ext cx="42538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67FC13-A7DD-6D9C-0BB0-71E6B7485477}"/>
              </a:ext>
            </a:extLst>
          </p:cNvPr>
          <p:cNvSpPr txBox="1"/>
          <p:nvPr/>
        </p:nvSpPr>
        <p:spPr>
          <a:xfrm>
            <a:off x="5808913" y="613446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leak</a:t>
            </a:r>
            <a:endParaRPr lang="el-GR" baseline="-25000" dirty="0"/>
          </a:p>
        </p:txBody>
      </p:sp>
      <p:sp>
        <p:nvSpPr>
          <p:cNvPr id="73" name="Ορθογώνιο 72">
            <a:extLst>
              <a:ext uri="{FF2B5EF4-FFF2-40B4-BE49-F238E27FC236}">
                <a16:creationId xmlns:a16="http://schemas.microsoft.com/office/drawing/2014/main" id="{75AF4241-70F3-0201-0138-777163492687}"/>
              </a:ext>
            </a:extLst>
          </p:cNvPr>
          <p:cNvSpPr/>
          <p:nvPr/>
        </p:nvSpPr>
        <p:spPr>
          <a:xfrm>
            <a:off x="4392544" y="6105911"/>
            <a:ext cx="2013007" cy="3978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BA66C0-3A23-E5AE-CF81-61358FACE819}"/>
              </a:ext>
            </a:extLst>
          </p:cNvPr>
          <p:cNvSpPr txBox="1"/>
          <p:nvPr/>
        </p:nvSpPr>
        <p:spPr>
          <a:xfrm>
            <a:off x="4392749" y="6120189"/>
            <a:ext cx="722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r>
              <a:rPr lang="en-US" dirty="0"/>
              <a:t> =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cxnSp>
        <p:nvCxnSpPr>
          <p:cNvPr id="75" name="Ευθεία γραμμή σύνδεσης 74">
            <a:extLst>
              <a:ext uri="{FF2B5EF4-FFF2-40B4-BE49-F238E27FC236}">
                <a16:creationId xmlns:a16="http://schemas.microsoft.com/office/drawing/2014/main" id="{48EB35CA-9E40-282B-5073-3CB0461EF888}"/>
              </a:ext>
            </a:extLst>
          </p:cNvPr>
          <p:cNvCxnSpPr>
            <a:cxnSpLocks/>
          </p:cNvCxnSpPr>
          <p:nvPr/>
        </p:nvCxnSpPr>
        <p:spPr>
          <a:xfrm flipH="1">
            <a:off x="5903259" y="6175909"/>
            <a:ext cx="444669" cy="313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Ευθύγραμμο βέλος σύνδεσης 80">
            <a:extLst>
              <a:ext uri="{FF2B5EF4-FFF2-40B4-BE49-F238E27FC236}">
                <a16:creationId xmlns:a16="http://schemas.microsoft.com/office/drawing/2014/main" id="{835E23F2-A6F6-E502-76B3-B0C1AA8B9BE0}"/>
              </a:ext>
            </a:extLst>
          </p:cNvPr>
          <p:cNvCxnSpPr>
            <a:cxnSpLocks/>
          </p:cNvCxnSpPr>
          <p:nvPr/>
        </p:nvCxnSpPr>
        <p:spPr>
          <a:xfrm>
            <a:off x="5036635" y="1794785"/>
            <a:ext cx="2825841" cy="1819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Έλλειψη 82">
            <a:extLst>
              <a:ext uri="{FF2B5EF4-FFF2-40B4-BE49-F238E27FC236}">
                <a16:creationId xmlns:a16="http://schemas.microsoft.com/office/drawing/2014/main" id="{B5F26525-48A5-68E1-E22F-4BEC819C1940}"/>
              </a:ext>
            </a:extLst>
          </p:cNvPr>
          <p:cNvSpPr/>
          <p:nvPr/>
        </p:nvSpPr>
        <p:spPr>
          <a:xfrm>
            <a:off x="2864005" y="1514611"/>
            <a:ext cx="1976339" cy="46849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4" name="Έλλειψη 83">
            <a:extLst>
              <a:ext uri="{FF2B5EF4-FFF2-40B4-BE49-F238E27FC236}">
                <a16:creationId xmlns:a16="http://schemas.microsoft.com/office/drawing/2014/main" id="{781FAE0A-913E-DC98-8349-0C3BCEEDB6E2}"/>
              </a:ext>
            </a:extLst>
          </p:cNvPr>
          <p:cNvSpPr/>
          <p:nvPr/>
        </p:nvSpPr>
        <p:spPr>
          <a:xfrm>
            <a:off x="8283704" y="3480387"/>
            <a:ext cx="1057301" cy="3803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87" name="Ευθύγραμμο βέλος σύνδεσης 86">
            <a:extLst>
              <a:ext uri="{FF2B5EF4-FFF2-40B4-BE49-F238E27FC236}">
                <a16:creationId xmlns:a16="http://schemas.microsoft.com/office/drawing/2014/main" id="{444E032C-ED53-8DF7-BE42-B907767CAC14}"/>
              </a:ext>
            </a:extLst>
          </p:cNvPr>
          <p:cNvCxnSpPr>
            <a:cxnSpLocks/>
          </p:cNvCxnSpPr>
          <p:nvPr/>
        </p:nvCxnSpPr>
        <p:spPr>
          <a:xfrm flipV="1">
            <a:off x="4046654" y="5991243"/>
            <a:ext cx="4346232" cy="114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9" name="Έλλειψη 88">
            <a:extLst>
              <a:ext uri="{FF2B5EF4-FFF2-40B4-BE49-F238E27FC236}">
                <a16:creationId xmlns:a16="http://schemas.microsoft.com/office/drawing/2014/main" id="{F915097F-FFB3-2F5D-0D41-2055FEF6F1CC}"/>
              </a:ext>
            </a:extLst>
          </p:cNvPr>
          <p:cNvSpPr/>
          <p:nvPr/>
        </p:nvSpPr>
        <p:spPr>
          <a:xfrm rot="20296214">
            <a:off x="8991600" y="5565443"/>
            <a:ext cx="642257" cy="82368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0" name="Έλλειψη 89">
            <a:extLst>
              <a:ext uri="{FF2B5EF4-FFF2-40B4-BE49-F238E27FC236}">
                <a16:creationId xmlns:a16="http://schemas.microsoft.com/office/drawing/2014/main" id="{13F75948-87B4-7B4E-BBE3-4FE9C3224F2B}"/>
              </a:ext>
            </a:extLst>
          </p:cNvPr>
          <p:cNvSpPr/>
          <p:nvPr/>
        </p:nvSpPr>
        <p:spPr>
          <a:xfrm>
            <a:off x="3675108" y="5991243"/>
            <a:ext cx="346062" cy="34888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1" name="Έλλειψη 90">
            <a:extLst>
              <a:ext uri="{FF2B5EF4-FFF2-40B4-BE49-F238E27FC236}">
                <a16:creationId xmlns:a16="http://schemas.microsoft.com/office/drawing/2014/main" id="{760D886E-889E-63F1-1483-8168D8663880}"/>
              </a:ext>
            </a:extLst>
          </p:cNvPr>
          <p:cNvSpPr/>
          <p:nvPr/>
        </p:nvSpPr>
        <p:spPr>
          <a:xfrm>
            <a:off x="3194498" y="5977287"/>
            <a:ext cx="382063" cy="369332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93" name="Ευθύγραμμο βέλος σύνδεσης 92">
            <a:extLst>
              <a:ext uri="{FF2B5EF4-FFF2-40B4-BE49-F238E27FC236}">
                <a16:creationId xmlns:a16="http://schemas.microsoft.com/office/drawing/2014/main" id="{DC643DBB-C6E1-236C-DBAB-D7A7AECCC45F}"/>
              </a:ext>
            </a:extLst>
          </p:cNvPr>
          <p:cNvCxnSpPr>
            <a:cxnSpLocks/>
          </p:cNvCxnSpPr>
          <p:nvPr/>
        </p:nvCxnSpPr>
        <p:spPr>
          <a:xfrm flipV="1">
            <a:off x="3540392" y="5334621"/>
            <a:ext cx="4994008" cy="60015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Έλλειψη 93">
            <a:extLst>
              <a:ext uri="{FF2B5EF4-FFF2-40B4-BE49-F238E27FC236}">
                <a16:creationId xmlns:a16="http://schemas.microsoft.com/office/drawing/2014/main" id="{6C8D0A8A-376B-3D46-688E-F34B63901D61}"/>
              </a:ext>
            </a:extLst>
          </p:cNvPr>
          <p:cNvSpPr/>
          <p:nvPr/>
        </p:nvSpPr>
        <p:spPr>
          <a:xfrm rot="2080108">
            <a:off x="8979582" y="4713893"/>
            <a:ext cx="581558" cy="893071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1995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/>
      <p:bldP spid="10" grpId="0" animBg="1"/>
      <p:bldP spid="11" grpId="0" animBg="1"/>
      <p:bldP spid="13" grpId="0" animBg="1"/>
      <p:bldP spid="14" grpId="0" animBg="1"/>
      <p:bldP spid="21" grpId="0" animBg="1"/>
      <p:bldP spid="22" grpId="0" animBg="1"/>
      <p:bldP spid="12" grpId="0" animBg="1"/>
      <p:bldP spid="15" grpId="0" animBg="1"/>
      <p:bldP spid="23" grpId="0" animBg="1"/>
      <p:bldP spid="6" grpId="0" animBg="1"/>
      <p:bldP spid="16" grpId="0" animBg="1"/>
      <p:bldP spid="20" grpId="0"/>
      <p:bldP spid="27" grpId="0"/>
      <p:bldP spid="28" grpId="0"/>
      <p:bldP spid="29" grpId="0"/>
      <p:bldP spid="30" grpId="0"/>
      <p:bldP spid="31" grpId="0"/>
      <p:bldP spid="40" grpId="0"/>
      <p:bldP spid="41" grpId="0"/>
      <p:bldP spid="42" grpId="0"/>
      <p:bldP spid="43" grpId="0"/>
      <p:bldP spid="66" grpId="0"/>
      <p:bldP spid="68" grpId="0"/>
      <p:bldP spid="70" grpId="0"/>
      <p:bldP spid="70" grpId="1"/>
      <p:bldP spid="71" grpId="0" animBg="1"/>
      <p:bldP spid="72" grpId="0"/>
      <p:bldP spid="73" grpId="0" animBg="1"/>
      <p:bldP spid="74" grpId="0"/>
      <p:bldP spid="83" grpId="0" animBg="1"/>
      <p:bldP spid="84" grpId="0" animBg="1"/>
      <p:bldP spid="89" grpId="0" animBg="1"/>
      <p:bldP spid="90" grpId="0" animBg="1"/>
      <p:bldP spid="91" grpId="0" animBg="1"/>
      <p:bldP spid="9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9031-4715-F11E-069F-22A60C74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/>
              <a:t>Thermodynamics Laws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F10D95-380B-59C8-5FB8-1FE22EF82741}"/>
                  </a:ext>
                </a:extLst>
              </p:cNvPr>
              <p:cNvSpPr txBox="1"/>
              <p:nvPr/>
            </p:nvSpPr>
            <p:spPr>
              <a:xfrm>
                <a:off x="981012" y="1690688"/>
                <a:ext cx="7036641" cy="2584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𝑳𝒂𝒘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𝑻𝒉𝒆𝒓𝒎𝒐𝒅𝒚𝒏𝒂𝒎𝒊𝒄𝒔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𝑑𝑈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𝑻𝒓𝒂𝒏𝒔𝒑𝒐𝒓𝒕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𝑳𝒂𝒘𝒔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𝐶𝑜𝑛𝑑𝑢𝑐𝑡𝑖𝑜𝑛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  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den>
                    </m:f>
                  </m:oMath>
                </a14:m>
                <a:endParaRPr lang="en-GR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𝐶𝑜𝑛𝑣𝑒𝑐𝑡𝑖𝑜𝑛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ℎ𝐴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conv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𝑅𝑎𝑑𝑖𝑎𝑡𝑖𝑜𝑛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𝐴𝑑𝑣𝑒𝑐𝑡𝑖𝑜𝑛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endParaRPr lang="en-G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F10D95-380B-59C8-5FB8-1FE22EF82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2" y="1690688"/>
                <a:ext cx="7036641" cy="2584297"/>
              </a:xfrm>
              <a:prstGeom prst="rect">
                <a:avLst/>
              </a:prstGeom>
              <a:blipFill>
                <a:blip r:embed="rId2"/>
                <a:stretch>
                  <a:fillRect l="-607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50DD969-00B9-72EC-057C-8977C3C5B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029" y="842651"/>
            <a:ext cx="2899313" cy="1718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328298-20AD-FD85-4C09-889B032C3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2" y="2806644"/>
            <a:ext cx="2903170" cy="1836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B1B5C8-C606-37AF-C736-9584902D2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172" y="4832358"/>
            <a:ext cx="1974850" cy="1854200"/>
          </a:xfrm>
          <a:prstGeom prst="rect">
            <a:avLst/>
          </a:prstGeom>
        </p:spPr>
      </p:pic>
      <p:pic>
        <p:nvPicPr>
          <p:cNvPr id="7" name="Picture 6" descr="Conduction , Convection and Advection and Heat Budget | Heat Balance -  Terminologies Explained .">
            <a:extLst>
              <a:ext uri="{FF2B5EF4-FFF2-40B4-BE49-F238E27FC236}">
                <a16:creationId xmlns:a16="http://schemas.microsoft.com/office/drawing/2014/main" id="{6BEF1D75-B17F-ED6E-1C76-C88B47C3E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3355" y="4369759"/>
            <a:ext cx="3920264" cy="22051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CB96BE-9B0D-44CF-5D0B-34216505514B}"/>
                  </a:ext>
                </a:extLst>
              </p:cNvPr>
              <p:cNvSpPr txBox="1"/>
              <p:nvPr/>
            </p:nvSpPr>
            <p:spPr>
              <a:xfrm>
                <a:off x="1041568" y="1859078"/>
                <a:ext cx="41904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𝑡ℎ𝑒𝑟𝑚𝑎𝑙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electrical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GR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CB96BE-9B0D-44CF-5D0B-34216505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68" y="1859078"/>
                <a:ext cx="4190496" cy="369332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34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967C7E-0251-753B-D7DA-C6D0E3AF7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33" y="0"/>
            <a:ext cx="10833874" cy="685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5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E0B5F7-BEC8-91D0-D176-C5D70CDE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2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163</Words>
  <Application>Microsoft Macintosh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Wingdings</vt:lpstr>
      <vt:lpstr>Office Theme</vt:lpstr>
      <vt:lpstr>Calorimeter for High Efficiency converters</vt:lpstr>
      <vt:lpstr>Double Jacket Chamber</vt:lpstr>
      <vt:lpstr>Thermodynamics Laws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Vasilis Gkionis</dc:creator>
  <cp:lastModifiedBy>Vasilis Gkionis</cp:lastModifiedBy>
  <cp:revision>1</cp:revision>
  <dcterms:created xsi:type="dcterms:W3CDTF">2026-08-31T11:27:32Z</dcterms:created>
  <dcterms:modified xsi:type="dcterms:W3CDTF">2026-08-31T12:36:57Z</dcterms:modified>
</cp:coreProperties>
</file>