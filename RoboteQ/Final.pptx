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f=1&amp;nofb=1&amp;ipt=b44828c5d1e559c5668a3272bc5e2d98e7bdb52441687b9284fc737e7f08d2bd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1"/>
  </p:sldMasterIdLst>
  <p:sldIdLst>
    <p:sldId id="264" r:id="rId2"/>
    <p:sldId id="258" r:id="rId3"/>
    <p:sldId id="261" r:id="rId4"/>
    <p:sldId id="271" r:id="rId5"/>
    <p:sldId id="272" r:id="rId6"/>
    <p:sldId id="273" r:id="rId7"/>
    <p:sldId id="262" r:id="rId8"/>
    <p:sldId id="274" r:id="rId9"/>
    <p:sldId id="275" r:id="rId10"/>
    <p:sldId id="276" r:id="rId11"/>
    <p:sldId id="277" r:id="rId12"/>
  </p:sldIdLst>
  <p:sldSz cx="12192000" cy="6858000"/>
  <p:notesSz cx="6858000" cy="9144000"/>
  <p:defaultTextStyle>
    <a:defPPr>
      <a:defRPr lang="en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65"/>
  </p:normalViewPr>
  <p:slideViewPr>
    <p:cSldViewPr snapToGrid="0">
      <p:cViewPr>
        <p:scale>
          <a:sx n="100" d="100"/>
          <a:sy n="100" d="100"/>
        </p:scale>
        <p:origin x="33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0AEA5-B49D-9DBE-3909-20B4834C09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9E5E35-95AA-E0B5-D776-A978DD53D9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001F3-170B-84BD-EA8E-84473C8E2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7251B-6155-6141-C247-30ABA6D4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1402E-CC88-A769-FA1C-996BAECEB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23368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CD46-AAB8-B2A1-AC1E-15CC311D8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80990-70EE-9693-C8B5-16A813147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29A0F-9DBC-5300-8171-F0098C0D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D69B6-DC5B-803D-19A3-F6BAC5DB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90919-1D87-B174-4D8F-4E2DF551F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59790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25E24-79F9-BAD5-170D-02D3C10E4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903DC-204E-0F86-417C-FAD68B29F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8BD43-CEC1-5D61-1AE6-09102CFFD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DAB3C1-CE0B-D0DA-156E-EDDBBD1F2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3B02A-9B2C-5B46-B48F-4FA7DD56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158315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E372C-CB63-F203-7766-3ABD9E21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AF93F-BE0F-935F-3B2C-CBED3CF27E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02CBE-A96D-DD74-98D5-1A419F5D1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E9ED0B-553F-D151-5CF1-707EB9D75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A7F18F-19E4-6B71-4D35-F8A1DDAD9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B3FCA0-047A-C6AE-F181-7C980E837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3775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97A0-3086-19FA-12A6-86298D6EE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47AC3-E61E-DAB5-215D-8DBC3E536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712A1-CFD4-3822-5DFA-D0BD18552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C3E992-CBC3-4898-2D49-E4CE5835E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CDF093-3581-5515-4B39-35B722743A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9AF830-8101-0845-8834-0DA005F85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B35385-5CC9-FC53-121C-66E4E18B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7BECA5-27E9-7D01-24F2-D62B3BD9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7254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AB3D-4663-02BF-F583-0B3D9E7DD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9E62BC-415E-1D7D-8DBA-C4E6DE422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B8E4D-6A58-DD48-2B71-A1B44197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243788-80B7-C8C4-4998-6718873D7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03880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DE22B9-A4DF-1B4D-C486-FFDDCEC6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0298C2-F3F0-701C-86D1-F8A5B1239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D4CA2-126D-C3BE-E3ED-EF1926B61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42187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0D789-8812-22EA-19E7-187B8DD1C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64512-13D4-1DA2-C0AA-AAD70D7DC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C6B5E-6C57-FE3C-7760-8DBFCD14AE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F8B38E-1580-3C8A-35FB-D91B8E3A8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8662B1-6F0B-58FE-09F0-0EC9C2992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4AA2E1-CA71-F7BC-E378-D458A39C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96044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CAF44-2680-4DC3-FFCD-B3D6B970E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93441-6553-3583-401D-F3849BFE74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8A1F3-C22C-731A-DE73-D28580179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9DD0C3-3EDA-A6F6-20C8-4BDD7E3AF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402EC3-965F-B537-84BD-7A531588A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4F69A5-8DFF-9B4E-DECD-57D97F20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3780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B0B0-0BA6-2E53-745D-728DB1EBB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BF1652-CBDC-67D0-B013-CAACEEDCA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62738-A78C-A0AF-0110-9C20D10B0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0C229-AC4A-2142-6C9A-EF1AB7A90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F707A-645D-A89A-663F-9C4E2371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849992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A4B28-E260-9083-6E15-4B6FCA80FB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9D633F-B762-EB54-F70E-8695D781E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30401-FC6A-BBB2-7259-4C0342F24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FA136-DF38-2059-9FF6-6ED70F225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49073-1CB1-063D-C826-41FB9A702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851750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037778-6446-8A60-2951-9939033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C792DE-16A9-3FFA-4E5C-E9B60F229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7698-307F-CE5B-F1D7-A5F47A6BD5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ABE0D-BEF0-A040-9529-6256E3BDA5FB}" type="datetimeFigureOut">
              <a:rPr lang="en-GR" smtClean="0"/>
              <a:t>31/8/26</a:t>
            </a:fld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DD976-D078-E67B-0A7B-B31C0B6D44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6BD6B-4D50-6C98-54BF-CEB622301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7C216B-0BF9-1C40-9354-D0AFC60DE77E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789551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&amp;f=1&amp;nofb=1&amp;ipt=b44828c5d1e559c5668a3272bc5e2d98e7bdb52441687b9284fc737e7f08d2bd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ED67D-5D6C-669E-A176-CA3B228CC3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R" dirty="0"/>
              <a:t>Calorimeter for High Efficiency converters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52C014-4DAC-3C2B-2145-97EB31303D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GR" dirty="0"/>
          </a:p>
          <a:p>
            <a:r>
              <a:rPr lang="en-GR" dirty="0"/>
              <a:t>Design and Modeling </a:t>
            </a:r>
          </a:p>
          <a:p>
            <a:r>
              <a:rPr lang="en-GR" dirty="0"/>
              <a:t>Internship(July 01 – August 31 2026)</a:t>
            </a:r>
          </a:p>
        </p:txBody>
      </p:sp>
    </p:spTree>
    <p:extLst>
      <p:ext uri="{BB962C8B-B14F-4D97-AF65-F5344CB8AC3E}">
        <p14:creationId xmlns:p14="http://schemas.microsoft.com/office/powerpoint/2010/main" val="2828955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096222-B653-1296-BA1F-1277552B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Jacket Chamber</a:t>
            </a:r>
            <a:endParaRPr lang="el-GR" dirty="0"/>
          </a:p>
        </p:txBody>
      </p:sp>
      <p:sp>
        <p:nvSpPr>
          <p:cNvPr id="4" name="Ορθογώνιο 3">
            <a:extLst>
              <a:ext uri="{FF2B5EF4-FFF2-40B4-BE49-F238E27FC236}">
                <a16:creationId xmlns:a16="http://schemas.microsoft.com/office/drawing/2014/main" id="{D714D51E-7BDD-BFCB-382E-6FF288C54211}"/>
              </a:ext>
            </a:extLst>
          </p:cNvPr>
          <p:cNvSpPr/>
          <p:nvPr/>
        </p:nvSpPr>
        <p:spPr>
          <a:xfrm>
            <a:off x="2148469" y="2276087"/>
            <a:ext cx="3947531" cy="3233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5" name="Ορθογώνιο 4">
            <a:extLst>
              <a:ext uri="{FF2B5EF4-FFF2-40B4-BE49-F238E27FC236}">
                <a16:creationId xmlns:a16="http://schemas.microsoft.com/office/drawing/2014/main" id="{1A4EE32C-74A0-4A76-6AF5-E4C750DD3348}"/>
              </a:ext>
            </a:extLst>
          </p:cNvPr>
          <p:cNvSpPr/>
          <p:nvPr/>
        </p:nvSpPr>
        <p:spPr>
          <a:xfrm>
            <a:off x="2850995" y="2644077"/>
            <a:ext cx="2548053" cy="1940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cxnSp>
        <p:nvCxnSpPr>
          <p:cNvPr id="7" name="Ευθεία γραμμή σύνδεσης 6">
            <a:extLst>
              <a:ext uri="{FF2B5EF4-FFF2-40B4-BE49-F238E27FC236}">
                <a16:creationId xmlns:a16="http://schemas.microsoft.com/office/drawing/2014/main" id="{DB7B9A97-428C-8F70-2F96-6EC858596E61}"/>
              </a:ext>
            </a:extLst>
          </p:cNvPr>
          <p:cNvCxnSpPr/>
          <p:nvPr/>
        </p:nvCxnSpPr>
        <p:spPr>
          <a:xfrm>
            <a:off x="3486615" y="3614233"/>
            <a:ext cx="132699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Ορθογώνιο 7">
            <a:extLst>
              <a:ext uri="{FF2B5EF4-FFF2-40B4-BE49-F238E27FC236}">
                <a16:creationId xmlns:a16="http://schemas.microsoft.com/office/drawing/2014/main" id="{62AEC2D3-B49A-2793-9B9D-877BCB075D00}"/>
              </a:ext>
            </a:extLst>
          </p:cNvPr>
          <p:cNvSpPr/>
          <p:nvPr/>
        </p:nvSpPr>
        <p:spPr>
          <a:xfrm>
            <a:off x="3367053" y="3891777"/>
            <a:ext cx="830765" cy="5464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44C93D-928B-4502-49F4-C5801B48A231}"/>
              </a:ext>
            </a:extLst>
          </p:cNvPr>
          <p:cNvSpPr txBox="1"/>
          <p:nvPr/>
        </p:nvSpPr>
        <p:spPr>
          <a:xfrm>
            <a:off x="3447898" y="3991465"/>
            <a:ext cx="669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DUT</a:t>
            </a:r>
            <a:endParaRPr lang="el-GR" b="1" dirty="0"/>
          </a:p>
        </p:txBody>
      </p:sp>
      <p:sp>
        <p:nvSpPr>
          <p:cNvPr id="10" name="Έλλειψη 9">
            <a:extLst>
              <a:ext uri="{FF2B5EF4-FFF2-40B4-BE49-F238E27FC236}">
                <a16:creationId xmlns:a16="http://schemas.microsoft.com/office/drawing/2014/main" id="{BA87025C-73BD-2311-8273-A559E1B0A4ED}"/>
              </a:ext>
            </a:extLst>
          </p:cNvPr>
          <p:cNvSpPr/>
          <p:nvPr/>
        </p:nvSpPr>
        <p:spPr>
          <a:xfrm>
            <a:off x="4738494" y="2883208"/>
            <a:ext cx="89210" cy="200722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1" name="Έλλειψη 10">
            <a:extLst>
              <a:ext uri="{FF2B5EF4-FFF2-40B4-BE49-F238E27FC236}">
                <a16:creationId xmlns:a16="http://schemas.microsoft.com/office/drawing/2014/main" id="{C5E0002E-8118-98A6-DB1C-0952FD9B88D7}"/>
              </a:ext>
            </a:extLst>
          </p:cNvPr>
          <p:cNvSpPr/>
          <p:nvPr/>
        </p:nvSpPr>
        <p:spPr>
          <a:xfrm>
            <a:off x="4738494" y="3039326"/>
            <a:ext cx="89210" cy="200722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3" name="Έλλειψη 12">
            <a:extLst>
              <a:ext uri="{FF2B5EF4-FFF2-40B4-BE49-F238E27FC236}">
                <a16:creationId xmlns:a16="http://schemas.microsoft.com/office/drawing/2014/main" id="{2860D69D-F76D-FB37-D5BD-E72198CED76E}"/>
              </a:ext>
            </a:extLst>
          </p:cNvPr>
          <p:cNvSpPr/>
          <p:nvPr/>
        </p:nvSpPr>
        <p:spPr>
          <a:xfrm>
            <a:off x="5229923" y="4866568"/>
            <a:ext cx="89210" cy="200722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4" name="Έλλειψη 13">
            <a:extLst>
              <a:ext uri="{FF2B5EF4-FFF2-40B4-BE49-F238E27FC236}">
                <a16:creationId xmlns:a16="http://schemas.microsoft.com/office/drawing/2014/main" id="{E9D49909-6F18-C835-7452-A8912BE32EEC}"/>
              </a:ext>
            </a:extLst>
          </p:cNvPr>
          <p:cNvSpPr/>
          <p:nvPr/>
        </p:nvSpPr>
        <p:spPr>
          <a:xfrm>
            <a:off x="5229923" y="5022686"/>
            <a:ext cx="89210" cy="200722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1" name="Resistor heater (i)"/>
          <p:cNvSpPr/>
          <p:nvPr/>
        </p:nvSpPr>
        <p:spPr>
          <a:xfrm>
            <a:off x="4353476" y="4117858"/>
            <a:ext cx="787400" cy="203200"/>
          </a:xfrm>
          <a:custGeom>
            <a:avLst/>
            <a:gdLst/>
            <a:ahLst/>
            <a:cxnLst/>
            <a:rect l="0" t="0" r="1000" b="300"/>
            <a:pathLst>
              <a:path w="1000" h="300" fill="none">
                <a:moveTo>
                  <a:pt x="0" y="150"/>
                </a:moveTo>
                <a:lnTo>
                  <a:pt x="125" y="150"/>
                </a:lnTo>
                <a:lnTo>
                  <a:pt x="200" y="0"/>
                </a:lnTo>
                <a:lnTo>
                  <a:pt x="350" y="300"/>
                </a:lnTo>
                <a:lnTo>
                  <a:pt x="500" y="0"/>
                </a:lnTo>
                <a:lnTo>
                  <a:pt x="650" y="300"/>
                </a:lnTo>
                <a:lnTo>
                  <a:pt x="800" y="0"/>
                </a:lnTo>
                <a:lnTo>
                  <a:pt x="875" y="150"/>
                </a:lnTo>
                <a:lnTo>
                  <a:pt x="1000" y="150"/>
                </a:lnTo>
              </a:path>
            </a:pathLst>
          </a:custGeom>
          <a:noFill/>
          <a:ln w="12700" cap="rnd">
            <a:solidFill>
              <a:srgbClr val="000000"/>
            </a:solidFill>
            <a:round/>
          </a:ln>
        </p:spPr>
        <p:txBody>
          <a:bodyPr/>
          <a:lstStyle/>
          <a:p>
            <a:endParaRPr lang="el-GR"/>
          </a:p>
        </p:txBody>
      </p:sp>
      <p:sp>
        <p:nvSpPr>
          <p:cNvPr id="22" name="Resistor heater (e)"/>
          <p:cNvSpPr/>
          <p:nvPr/>
        </p:nvSpPr>
        <p:spPr>
          <a:xfrm>
            <a:off x="4046654" y="4958575"/>
            <a:ext cx="787400" cy="203200"/>
          </a:xfrm>
          <a:custGeom>
            <a:avLst/>
            <a:gdLst/>
            <a:ahLst/>
            <a:cxnLst/>
            <a:rect l="0" t="0" r="1000" b="300"/>
            <a:pathLst>
              <a:path w="1000" h="300" fill="none">
                <a:moveTo>
                  <a:pt x="0" y="150"/>
                </a:moveTo>
                <a:lnTo>
                  <a:pt x="125" y="150"/>
                </a:lnTo>
                <a:lnTo>
                  <a:pt x="200" y="0"/>
                </a:lnTo>
                <a:lnTo>
                  <a:pt x="350" y="300"/>
                </a:lnTo>
                <a:lnTo>
                  <a:pt x="500" y="0"/>
                </a:lnTo>
                <a:lnTo>
                  <a:pt x="650" y="300"/>
                </a:lnTo>
                <a:lnTo>
                  <a:pt x="800" y="0"/>
                </a:lnTo>
                <a:lnTo>
                  <a:pt x="875" y="150"/>
                </a:lnTo>
                <a:lnTo>
                  <a:pt x="1000" y="150"/>
                </a:lnTo>
              </a:path>
            </a:pathLst>
          </a:custGeom>
          <a:noFill/>
          <a:ln w="12700" cap="rnd">
            <a:solidFill>
              <a:srgbClr val="000000"/>
            </a:solidFill>
            <a:round/>
          </a:ln>
        </p:spPr>
        <p:txBody>
          <a:bodyPr/>
          <a:lstStyle/>
          <a:p>
            <a:endParaRPr lang="el-GR"/>
          </a:p>
        </p:txBody>
      </p:sp>
      <p:sp>
        <p:nvSpPr>
          <p:cNvPr id="12" name="Καμπύλο αριστερό βέλος 11">
            <a:extLst>
              <a:ext uri="{FF2B5EF4-FFF2-40B4-BE49-F238E27FC236}">
                <a16:creationId xmlns:a16="http://schemas.microsoft.com/office/drawing/2014/main" id="{BF6620EE-B03B-4E72-C77D-F4A569B0BB97}"/>
              </a:ext>
            </a:extLst>
          </p:cNvPr>
          <p:cNvSpPr/>
          <p:nvPr/>
        </p:nvSpPr>
        <p:spPr>
          <a:xfrm>
            <a:off x="5036635" y="3014882"/>
            <a:ext cx="237893" cy="105467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>
              <a:solidFill>
                <a:schemeClr val="tx1"/>
              </a:solidFill>
            </a:endParaRPr>
          </a:p>
        </p:txBody>
      </p:sp>
      <p:sp>
        <p:nvSpPr>
          <p:cNvPr id="15" name="Καμπύλο αριστερό βέλος 14">
            <a:extLst>
              <a:ext uri="{FF2B5EF4-FFF2-40B4-BE49-F238E27FC236}">
                <a16:creationId xmlns:a16="http://schemas.microsoft.com/office/drawing/2014/main" id="{704C494E-855B-FB3E-A4A5-B10B93508C16}"/>
              </a:ext>
            </a:extLst>
          </p:cNvPr>
          <p:cNvSpPr/>
          <p:nvPr/>
        </p:nvSpPr>
        <p:spPr>
          <a:xfrm rot="10800000">
            <a:off x="2960495" y="3008650"/>
            <a:ext cx="237893" cy="1054677"/>
          </a:xfrm>
          <a:prstGeom prst="curvedLef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dirty="0">
              <a:solidFill>
                <a:schemeClr val="tx1"/>
              </a:solidFill>
            </a:endParaRPr>
          </a:p>
        </p:txBody>
      </p:sp>
      <p:sp>
        <p:nvSpPr>
          <p:cNvPr id="23" name="Radiator"/>
          <p:cNvSpPr/>
          <p:nvPr/>
        </p:nvSpPr>
        <p:spPr>
          <a:xfrm>
            <a:off x="3356674" y="1993909"/>
            <a:ext cx="1257300" cy="1231900"/>
          </a:xfrm>
          <a:custGeom>
            <a:avLst/>
            <a:gdLst/>
            <a:ahLst/>
            <a:cxnLst/>
            <a:rect l="0" t="0" r="990" b="970"/>
            <a:pathLst>
              <a:path w="990" h="970" fill="none">
                <a:moveTo>
                  <a:pt x="0" y="0"/>
                </a:moveTo>
                <a:lnTo>
                  <a:pt x="0" y="925"/>
                </a:lnTo>
                <a:arcTo wR="45" hR="45" stAng="10800000" swAng="-10800000"/>
                <a:lnTo>
                  <a:pt x="90" y="755"/>
                </a:lnTo>
                <a:arcTo wR="45" hR="45" stAng="10800000" swAng="10800000"/>
                <a:lnTo>
                  <a:pt x="180" y="925"/>
                </a:lnTo>
                <a:arcTo wR="45" hR="45" stAng="10800000" swAng="-10800000"/>
                <a:lnTo>
                  <a:pt x="270" y="755"/>
                </a:lnTo>
                <a:arcTo wR="45" hR="45" stAng="10800000" swAng="10800000"/>
                <a:lnTo>
                  <a:pt x="360" y="925"/>
                </a:lnTo>
                <a:arcTo wR="45" hR="45" stAng="10800000" swAng="-10800000"/>
                <a:lnTo>
                  <a:pt x="450" y="755"/>
                </a:lnTo>
                <a:arcTo wR="45" hR="45" stAng="10800000" swAng="10800000"/>
                <a:lnTo>
                  <a:pt x="540" y="925"/>
                </a:lnTo>
                <a:arcTo wR="45" hR="45" stAng="10800000" swAng="-10800000"/>
                <a:lnTo>
                  <a:pt x="630" y="755"/>
                </a:lnTo>
                <a:arcTo wR="45" hR="45" stAng="10800000" swAng="10800000"/>
                <a:lnTo>
                  <a:pt x="720" y="925"/>
                </a:lnTo>
                <a:arcTo wR="45" hR="45" stAng="10800000" swAng="-10800000"/>
                <a:lnTo>
                  <a:pt x="810" y="755"/>
                </a:lnTo>
                <a:arcTo wR="45" hR="45" stAng="10800000" swAng="10800000"/>
                <a:lnTo>
                  <a:pt x="900" y="925"/>
                </a:lnTo>
                <a:arcTo wR="45" hR="45" stAng="10800000" swAng="-10800000"/>
                <a:lnTo>
                  <a:pt x="990" y="0"/>
                </a:lnTo>
              </a:path>
            </a:pathLst>
          </a:custGeom>
          <a:noFill/>
          <a:ln w="12700" cap="rnd">
            <a:solidFill>
              <a:srgbClr val="000000"/>
            </a:solidFill>
            <a:round/>
          </a:ln>
        </p:spPr>
        <p:txBody>
          <a:bodyPr/>
          <a:lstStyle/>
          <a:p>
            <a:endParaRPr lang="el-GR"/>
          </a:p>
        </p:txBody>
      </p:sp>
      <p:sp>
        <p:nvSpPr>
          <p:cNvPr id="6" name="Καμπύλο αριστερό βέλος 5">
            <a:extLst>
              <a:ext uri="{FF2B5EF4-FFF2-40B4-BE49-F238E27FC236}">
                <a16:creationId xmlns:a16="http://schemas.microsoft.com/office/drawing/2014/main" id="{C6249B7E-9AEB-FECE-8D73-32E3C2C11E8F}"/>
              </a:ext>
            </a:extLst>
          </p:cNvPr>
          <p:cNvSpPr/>
          <p:nvPr/>
        </p:nvSpPr>
        <p:spPr>
          <a:xfrm rot="10800000">
            <a:off x="2334042" y="2364115"/>
            <a:ext cx="367630" cy="2885688"/>
          </a:xfrm>
          <a:prstGeom prst="curvedLef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dirty="0">
              <a:solidFill>
                <a:schemeClr val="tx1"/>
              </a:solidFill>
            </a:endParaRPr>
          </a:p>
        </p:txBody>
      </p:sp>
      <p:sp>
        <p:nvSpPr>
          <p:cNvPr id="16" name="Καμπύλο αριστερό βέλος 15">
            <a:extLst>
              <a:ext uri="{FF2B5EF4-FFF2-40B4-BE49-F238E27FC236}">
                <a16:creationId xmlns:a16="http://schemas.microsoft.com/office/drawing/2014/main" id="{33D7070D-0756-1043-673D-1DCA85C2F908}"/>
              </a:ext>
            </a:extLst>
          </p:cNvPr>
          <p:cNvSpPr/>
          <p:nvPr/>
        </p:nvSpPr>
        <p:spPr>
          <a:xfrm>
            <a:off x="5601241" y="2448933"/>
            <a:ext cx="367630" cy="2885688"/>
          </a:xfrm>
          <a:prstGeom prst="curvedLef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dirty="0">
              <a:solidFill>
                <a:schemeClr val="tx1"/>
              </a:solidFill>
            </a:endParaRPr>
          </a:p>
        </p:txBody>
      </p:sp>
      <p:cxnSp>
        <p:nvCxnSpPr>
          <p:cNvPr id="18" name="Ευθύγραμμο βέλος σύνδεσης 17">
            <a:extLst>
              <a:ext uri="{FF2B5EF4-FFF2-40B4-BE49-F238E27FC236}">
                <a16:creationId xmlns:a16="http://schemas.microsoft.com/office/drawing/2014/main" id="{12767D90-F329-1804-39A3-2BFEB7A4B834}"/>
              </a:ext>
            </a:extLst>
          </p:cNvPr>
          <p:cNvCxnSpPr/>
          <p:nvPr/>
        </p:nvCxnSpPr>
        <p:spPr>
          <a:xfrm>
            <a:off x="3198388" y="4438184"/>
            <a:ext cx="0" cy="584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14BCFC8-3753-17B6-A790-80B2FC90269A}"/>
              </a:ext>
            </a:extLst>
          </p:cNvPr>
          <p:cNvSpPr txBox="1"/>
          <p:nvPr/>
        </p:nvSpPr>
        <p:spPr>
          <a:xfrm>
            <a:off x="3192244" y="4775676"/>
            <a:ext cx="63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leak</a:t>
            </a:r>
            <a:endParaRPr lang="el-GR" baseline="-25000" dirty="0"/>
          </a:p>
        </p:txBody>
      </p:sp>
      <p:cxnSp>
        <p:nvCxnSpPr>
          <p:cNvPr id="25" name="Ευθύγραμμο βέλος σύνδεσης 24">
            <a:extLst>
              <a:ext uri="{FF2B5EF4-FFF2-40B4-BE49-F238E27FC236}">
                <a16:creationId xmlns:a16="http://schemas.microsoft.com/office/drawing/2014/main" id="{BF69047F-D663-145A-40FD-B583678CE819}"/>
              </a:ext>
            </a:extLst>
          </p:cNvPr>
          <p:cNvCxnSpPr>
            <a:cxnSpLocks/>
          </p:cNvCxnSpPr>
          <p:nvPr/>
        </p:nvCxnSpPr>
        <p:spPr>
          <a:xfrm flipH="1" flipV="1">
            <a:off x="4897860" y="5064726"/>
            <a:ext cx="257721" cy="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C3B904E-DB6F-80DF-96C4-893F6CA7F589}"/>
              </a:ext>
            </a:extLst>
          </p:cNvPr>
          <p:cNvSpPr txBox="1"/>
          <p:nvPr/>
        </p:nvSpPr>
        <p:spPr>
          <a:xfrm>
            <a:off x="3057577" y="1570004"/>
            <a:ext cx="617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out</a:t>
            </a:r>
            <a:endParaRPr lang="el-GR" baseline="-25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C23CDD-EBE1-E9F1-1B60-17241DA7F329}"/>
              </a:ext>
            </a:extLst>
          </p:cNvPr>
          <p:cNvSpPr txBox="1"/>
          <p:nvPr/>
        </p:nvSpPr>
        <p:spPr>
          <a:xfrm>
            <a:off x="4197818" y="1566471"/>
            <a:ext cx="617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in</a:t>
            </a:r>
            <a:endParaRPr lang="el-GR" baseline="-25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EE83FA-8F03-D2C6-3A57-C7F1F9AA97B2}"/>
              </a:ext>
            </a:extLst>
          </p:cNvPr>
          <p:cNvSpPr txBox="1"/>
          <p:nvPr/>
        </p:nvSpPr>
        <p:spPr>
          <a:xfrm>
            <a:off x="2742425" y="4992950"/>
            <a:ext cx="617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</a:t>
            </a:r>
            <a:r>
              <a:rPr lang="en-US" baseline="-25000" dirty="0" err="1"/>
              <a:t>e</a:t>
            </a:r>
            <a:endParaRPr lang="el-GR" baseline="-25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7176E3-1254-A771-CE7E-C823B7807AE7}"/>
              </a:ext>
            </a:extLst>
          </p:cNvPr>
          <p:cNvSpPr txBox="1"/>
          <p:nvPr/>
        </p:nvSpPr>
        <p:spPr>
          <a:xfrm>
            <a:off x="2392906" y="5565443"/>
            <a:ext cx="617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a</a:t>
            </a:r>
            <a:endParaRPr lang="el-GR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274DB2-6BC9-D457-3053-FF76AAB6351B}"/>
              </a:ext>
            </a:extLst>
          </p:cNvPr>
          <p:cNvSpPr txBox="1"/>
          <p:nvPr/>
        </p:nvSpPr>
        <p:spPr>
          <a:xfrm>
            <a:off x="2832865" y="4107416"/>
            <a:ext cx="617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i</a:t>
            </a:r>
            <a:endParaRPr lang="el-GR" baseline="-25000" dirty="0"/>
          </a:p>
        </p:txBody>
      </p:sp>
      <p:cxnSp>
        <p:nvCxnSpPr>
          <p:cNvPr id="33" name="Ευθεία γραμμή σύνδεσης 32">
            <a:extLst>
              <a:ext uri="{FF2B5EF4-FFF2-40B4-BE49-F238E27FC236}">
                <a16:creationId xmlns:a16="http://schemas.microsoft.com/office/drawing/2014/main" id="{DAA7C9C4-9406-5FF6-5A4C-352A76DBCAD8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2942188" y="4490428"/>
            <a:ext cx="569794" cy="6545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Ευθεία γραμμή σύνδεσης 33">
            <a:extLst>
              <a:ext uri="{FF2B5EF4-FFF2-40B4-BE49-F238E27FC236}">
                <a16:creationId xmlns:a16="http://schemas.microsoft.com/office/drawing/2014/main" id="{1BD405E2-927F-57E2-A7EC-D7542604CA3D}"/>
              </a:ext>
            </a:extLst>
          </p:cNvPr>
          <p:cNvCxnSpPr>
            <a:cxnSpLocks/>
          </p:cNvCxnSpPr>
          <p:nvPr/>
        </p:nvCxnSpPr>
        <p:spPr>
          <a:xfrm flipH="1">
            <a:off x="2951728" y="4490428"/>
            <a:ext cx="534637" cy="6545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C0953E0-0690-A233-899A-C3C29A5B2E70}"/>
              </a:ext>
            </a:extLst>
          </p:cNvPr>
          <p:cNvSpPr txBox="1"/>
          <p:nvPr/>
        </p:nvSpPr>
        <p:spPr>
          <a:xfrm>
            <a:off x="4021170" y="5074621"/>
            <a:ext cx="86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</a:t>
            </a:r>
            <a:r>
              <a:rPr lang="en-US" baseline="-25000" dirty="0" err="1"/>
              <a:t>heater</a:t>
            </a:r>
            <a:endParaRPr lang="el-GR" baseline="-25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0F035A-19CA-76B7-E57F-2BECB9D108CC}"/>
              </a:ext>
            </a:extLst>
          </p:cNvPr>
          <p:cNvSpPr txBox="1"/>
          <p:nvPr/>
        </p:nvSpPr>
        <p:spPr>
          <a:xfrm>
            <a:off x="4304149" y="4210204"/>
            <a:ext cx="86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</a:t>
            </a:r>
            <a:r>
              <a:rPr lang="en-US" baseline="-25000" dirty="0" err="1"/>
              <a:t>heater</a:t>
            </a:r>
            <a:endParaRPr lang="el-GR" baseline="-25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B549FB-73F5-A810-E1F1-11AB4492E90B}"/>
              </a:ext>
            </a:extLst>
          </p:cNvPr>
          <p:cNvSpPr txBox="1"/>
          <p:nvPr/>
        </p:nvSpPr>
        <p:spPr>
          <a:xfrm>
            <a:off x="4936833" y="5105934"/>
            <a:ext cx="86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</a:t>
            </a:r>
            <a:r>
              <a:rPr lang="en-US" baseline="-25000" dirty="0" err="1"/>
              <a:t>fan</a:t>
            </a:r>
            <a:endParaRPr lang="el-GR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AF39D4-E3C1-B78B-E057-DA8CD202CDC2}"/>
              </a:ext>
            </a:extLst>
          </p:cNvPr>
          <p:cNvSpPr txBox="1"/>
          <p:nvPr/>
        </p:nvSpPr>
        <p:spPr>
          <a:xfrm>
            <a:off x="4540802" y="3226982"/>
            <a:ext cx="86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</a:t>
            </a:r>
            <a:r>
              <a:rPr lang="en-US" baseline="-25000" dirty="0" err="1"/>
              <a:t>fan</a:t>
            </a:r>
            <a:endParaRPr lang="el-GR" baseline="-25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56E809-2CEE-DD3D-8D8C-D04B27F29C81}"/>
              </a:ext>
            </a:extLst>
          </p:cNvPr>
          <p:cNvSpPr txBox="1"/>
          <p:nvPr/>
        </p:nvSpPr>
        <p:spPr>
          <a:xfrm>
            <a:off x="7636106" y="2075619"/>
            <a:ext cx="3623773" cy="178510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mbria Math" panose="02040503050406030204" pitchFamily="18" charset="0"/>
              </a:rPr>
              <a:t>Power Loss calculation</a:t>
            </a:r>
          </a:p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Q</a:t>
            </a:r>
            <a:r>
              <a:rPr lang="en-US" dirty="0"/>
              <a:t> =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</a:t>
            </a:r>
            <a:r>
              <a:rPr lang="en-US" dirty="0"/>
              <a:t> x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</a:t>
            </a:r>
            <a:r>
              <a:rPr lang="en-US" baseline="-25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</a:t>
            </a:r>
            <a:r>
              <a:rPr lang="en-US" dirty="0"/>
              <a:t> x </a:t>
            </a:r>
            <a:r>
              <a:rPr lang="el-GR" dirty="0">
                <a:solidFill>
                  <a:schemeClr val="accent2">
                    <a:lumMod val="75000"/>
                  </a:schemeClr>
                </a:solidFill>
              </a:rPr>
              <a:t>Δ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</a:t>
            </a: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</a:t>
            </a:r>
            <a:r>
              <a:rPr lang="en-US" dirty="0"/>
              <a:t> = coolant mass flow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</a:t>
            </a:r>
            <a:r>
              <a:rPr lang="en-US" baseline="-25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</a:t>
            </a:r>
            <a:r>
              <a:rPr lang="en-US" dirty="0"/>
              <a:t> = coolant heat capacity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dirty="0">
                <a:solidFill>
                  <a:schemeClr val="accent2">
                    <a:lumMod val="75000"/>
                  </a:schemeClr>
                </a:solidFill>
              </a:rPr>
              <a:t>Δ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 </a:t>
            </a:r>
            <a:r>
              <a:rPr lang="en-US" dirty="0"/>
              <a:t>= T</a:t>
            </a:r>
            <a:r>
              <a:rPr lang="en-US" baseline="-25000" dirty="0"/>
              <a:t>out</a:t>
            </a:r>
            <a:r>
              <a:rPr lang="en-US" dirty="0"/>
              <a:t> - T</a:t>
            </a:r>
            <a:r>
              <a:rPr lang="en-US" baseline="-25000" dirty="0"/>
              <a:t>in</a:t>
            </a:r>
            <a:endParaRPr lang="el-GR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DFEA6D3-18F7-14F1-DA16-B6E17E3087C9}"/>
                  </a:ext>
                </a:extLst>
              </p:cNvPr>
              <p:cNvSpPr txBox="1"/>
              <p:nvPr/>
            </p:nvSpPr>
            <p:spPr>
              <a:xfrm>
                <a:off x="7575044" y="4491303"/>
                <a:ext cx="3267667" cy="208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latin typeface="Cambria Math" panose="02040503050406030204" pitchFamily="18" charset="0"/>
                  </a:rPr>
                  <a:t>Coefficient of Performance</a:t>
                </a:r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l-GR" b="1" i="1" smtClean="0">
                          <a:latin typeface="Cambria Math" panose="02040503050406030204" pitchFamily="18" charset="0"/>
                        </a:rPr>
                        <m:t>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or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l-GR" b="1" i="1" smtClean="0">
                          <a:latin typeface="Cambria Math" panose="02040503050406030204" pitchFamily="18" charset="0"/>
                        </a:rPr>
                        <m:t>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DFEA6D3-18F7-14F1-DA16-B6E17E308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5044" y="4491303"/>
                <a:ext cx="3267667" cy="2086725"/>
              </a:xfrm>
              <a:prstGeom prst="rect">
                <a:avLst/>
              </a:prstGeom>
              <a:blipFill>
                <a:blip r:embed="rId2"/>
                <a:stretch>
                  <a:fillRect l="-2052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Ευθύγραμμο βέλος σύνδεσης 48">
            <a:extLst>
              <a:ext uri="{FF2B5EF4-FFF2-40B4-BE49-F238E27FC236}">
                <a16:creationId xmlns:a16="http://schemas.microsoft.com/office/drawing/2014/main" id="{C0182A32-6744-324B-2D42-E308E896F4C5}"/>
              </a:ext>
            </a:extLst>
          </p:cNvPr>
          <p:cNvCxnSpPr>
            <a:cxnSpLocks/>
          </p:cNvCxnSpPr>
          <p:nvPr/>
        </p:nvCxnSpPr>
        <p:spPr>
          <a:xfrm flipV="1">
            <a:off x="3237215" y="1969106"/>
            <a:ext cx="0" cy="282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1" name="Ευθύγραμμο βέλος σύνδεσης 50">
            <a:extLst>
              <a:ext uri="{FF2B5EF4-FFF2-40B4-BE49-F238E27FC236}">
                <a16:creationId xmlns:a16="http://schemas.microsoft.com/office/drawing/2014/main" id="{E09ACA1A-6281-2003-ED40-BD0FEC6E0F58}"/>
              </a:ext>
            </a:extLst>
          </p:cNvPr>
          <p:cNvCxnSpPr>
            <a:cxnSpLocks/>
          </p:cNvCxnSpPr>
          <p:nvPr/>
        </p:nvCxnSpPr>
        <p:spPr>
          <a:xfrm>
            <a:off x="4487644" y="1969106"/>
            <a:ext cx="0" cy="282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8" name="Ευθύγραμμο βέλος σύνδεσης 57">
            <a:extLst>
              <a:ext uri="{FF2B5EF4-FFF2-40B4-BE49-F238E27FC236}">
                <a16:creationId xmlns:a16="http://schemas.microsoft.com/office/drawing/2014/main" id="{97EC6E26-DB62-38F4-1659-A272839602F8}"/>
              </a:ext>
            </a:extLst>
          </p:cNvPr>
          <p:cNvCxnSpPr>
            <a:stCxn id="31" idx="3"/>
          </p:cNvCxnSpPr>
          <p:nvPr/>
        </p:nvCxnSpPr>
        <p:spPr>
          <a:xfrm flipH="1">
            <a:off x="3447898" y="4292082"/>
            <a:ext cx="2498" cy="1727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59" name="Ευθύγραμμο βέλος σύνδεσης 58">
            <a:extLst>
              <a:ext uri="{FF2B5EF4-FFF2-40B4-BE49-F238E27FC236}">
                <a16:creationId xmlns:a16="http://schemas.microsoft.com/office/drawing/2014/main" id="{F6AE3C53-EE30-D0DB-F941-996664A48BED}"/>
              </a:ext>
            </a:extLst>
          </p:cNvPr>
          <p:cNvCxnSpPr>
            <a:cxnSpLocks/>
          </p:cNvCxnSpPr>
          <p:nvPr/>
        </p:nvCxnSpPr>
        <p:spPr>
          <a:xfrm flipV="1">
            <a:off x="3728617" y="4292082"/>
            <a:ext cx="0" cy="16426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B665DA4-67F4-5BB0-57A9-6DDD5EB17F5B}"/>
              </a:ext>
            </a:extLst>
          </p:cNvPr>
          <p:cNvSpPr txBox="1"/>
          <p:nvPr/>
        </p:nvSpPr>
        <p:spPr>
          <a:xfrm>
            <a:off x="3111086" y="5991243"/>
            <a:ext cx="617531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</a:t>
            </a:r>
            <a:r>
              <a:rPr lang="en-US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</a:t>
            </a:r>
            <a:endParaRPr lang="el-GR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AEF960-0953-2544-78B3-61D516BCC36A}"/>
              </a:ext>
            </a:extLst>
          </p:cNvPr>
          <p:cNvSpPr txBox="1"/>
          <p:nvPr/>
        </p:nvSpPr>
        <p:spPr>
          <a:xfrm>
            <a:off x="3595079" y="5991243"/>
            <a:ext cx="617531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</a:t>
            </a:r>
            <a:r>
              <a:rPr lang="en-US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</a:t>
            </a:r>
            <a:endParaRPr lang="el-GR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59355A-D53E-1692-7A2F-3C1DDBD6A23B}"/>
              </a:ext>
            </a:extLst>
          </p:cNvPr>
          <p:cNvSpPr txBox="1"/>
          <p:nvPr/>
        </p:nvSpPr>
        <p:spPr>
          <a:xfrm>
            <a:off x="4392544" y="6134468"/>
            <a:ext cx="74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i</a:t>
            </a:r>
            <a:r>
              <a:rPr lang="en-US" dirty="0"/>
              <a:t> &gt; T</a:t>
            </a:r>
            <a:r>
              <a:rPr lang="en-US" baseline="-25000" dirty="0"/>
              <a:t>a</a:t>
            </a:r>
            <a:endParaRPr lang="el-GR" baseline="-25000" dirty="0"/>
          </a:p>
        </p:txBody>
      </p:sp>
      <p:sp>
        <p:nvSpPr>
          <p:cNvPr id="71" name="Δεξιό βέλος 70">
            <a:extLst>
              <a:ext uri="{FF2B5EF4-FFF2-40B4-BE49-F238E27FC236}">
                <a16:creationId xmlns:a16="http://schemas.microsoft.com/office/drawing/2014/main" id="{FDEB0F7E-F124-71BE-C2C1-3FB1099FF456}"/>
              </a:ext>
            </a:extLst>
          </p:cNvPr>
          <p:cNvSpPr/>
          <p:nvPr/>
        </p:nvSpPr>
        <p:spPr>
          <a:xfrm>
            <a:off x="5258621" y="6294404"/>
            <a:ext cx="425380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67FC13-A7DD-6D9C-0BB0-71E6B7485477}"/>
              </a:ext>
            </a:extLst>
          </p:cNvPr>
          <p:cNvSpPr txBox="1"/>
          <p:nvPr/>
        </p:nvSpPr>
        <p:spPr>
          <a:xfrm>
            <a:off x="5808913" y="6134468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leak</a:t>
            </a:r>
            <a:endParaRPr lang="el-GR" baseline="-25000" dirty="0"/>
          </a:p>
        </p:txBody>
      </p:sp>
      <p:sp>
        <p:nvSpPr>
          <p:cNvPr id="73" name="Ορθογώνιο 72">
            <a:extLst>
              <a:ext uri="{FF2B5EF4-FFF2-40B4-BE49-F238E27FC236}">
                <a16:creationId xmlns:a16="http://schemas.microsoft.com/office/drawing/2014/main" id="{75AF4241-70F3-0201-0138-777163492687}"/>
              </a:ext>
            </a:extLst>
          </p:cNvPr>
          <p:cNvSpPr/>
          <p:nvPr/>
        </p:nvSpPr>
        <p:spPr>
          <a:xfrm>
            <a:off x="4392544" y="6105911"/>
            <a:ext cx="2013007" cy="39788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BA66C0-3A23-E5AE-CF81-61358FACE819}"/>
              </a:ext>
            </a:extLst>
          </p:cNvPr>
          <p:cNvSpPr txBox="1"/>
          <p:nvPr/>
        </p:nvSpPr>
        <p:spPr>
          <a:xfrm>
            <a:off x="4392749" y="6120189"/>
            <a:ext cx="722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  <a:r>
              <a:rPr lang="en-US" baseline="-25000" dirty="0"/>
              <a:t>i</a:t>
            </a:r>
            <a:r>
              <a:rPr lang="en-US" dirty="0"/>
              <a:t> = </a:t>
            </a:r>
            <a:r>
              <a:rPr lang="en-US" dirty="0" err="1"/>
              <a:t>T</a:t>
            </a:r>
            <a:r>
              <a:rPr lang="en-US" baseline="-25000" dirty="0" err="1"/>
              <a:t>e</a:t>
            </a:r>
            <a:endParaRPr lang="el-GR" baseline="-25000" dirty="0"/>
          </a:p>
        </p:txBody>
      </p:sp>
      <p:cxnSp>
        <p:nvCxnSpPr>
          <p:cNvPr id="75" name="Ευθεία γραμμή σύνδεσης 74">
            <a:extLst>
              <a:ext uri="{FF2B5EF4-FFF2-40B4-BE49-F238E27FC236}">
                <a16:creationId xmlns:a16="http://schemas.microsoft.com/office/drawing/2014/main" id="{48EB35CA-9E40-282B-5073-3CB0461EF888}"/>
              </a:ext>
            </a:extLst>
          </p:cNvPr>
          <p:cNvCxnSpPr>
            <a:cxnSpLocks/>
          </p:cNvCxnSpPr>
          <p:nvPr/>
        </p:nvCxnSpPr>
        <p:spPr>
          <a:xfrm flipH="1">
            <a:off x="5903259" y="6175909"/>
            <a:ext cx="444669" cy="31361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Ευθύγραμμο βέλος σύνδεσης 80">
            <a:extLst>
              <a:ext uri="{FF2B5EF4-FFF2-40B4-BE49-F238E27FC236}">
                <a16:creationId xmlns:a16="http://schemas.microsoft.com/office/drawing/2014/main" id="{835E23F2-A6F6-E502-76B3-B0C1AA8B9BE0}"/>
              </a:ext>
            </a:extLst>
          </p:cNvPr>
          <p:cNvCxnSpPr>
            <a:cxnSpLocks/>
          </p:cNvCxnSpPr>
          <p:nvPr/>
        </p:nvCxnSpPr>
        <p:spPr>
          <a:xfrm>
            <a:off x="5036635" y="1794785"/>
            <a:ext cx="2825841" cy="18194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Έλλειψη 82">
            <a:extLst>
              <a:ext uri="{FF2B5EF4-FFF2-40B4-BE49-F238E27FC236}">
                <a16:creationId xmlns:a16="http://schemas.microsoft.com/office/drawing/2014/main" id="{B5F26525-48A5-68E1-E22F-4BEC819C1940}"/>
              </a:ext>
            </a:extLst>
          </p:cNvPr>
          <p:cNvSpPr/>
          <p:nvPr/>
        </p:nvSpPr>
        <p:spPr>
          <a:xfrm>
            <a:off x="2864005" y="1514611"/>
            <a:ext cx="1976339" cy="46849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4" name="Έλλειψη 83">
            <a:extLst>
              <a:ext uri="{FF2B5EF4-FFF2-40B4-BE49-F238E27FC236}">
                <a16:creationId xmlns:a16="http://schemas.microsoft.com/office/drawing/2014/main" id="{781FAE0A-913E-DC98-8349-0C3BCEEDB6E2}"/>
              </a:ext>
            </a:extLst>
          </p:cNvPr>
          <p:cNvSpPr/>
          <p:nvPr/>
        </p:nvSpPr>
        <p:spPr>
          <a:xfrm>
            <a:off x="8283704" y="3480387"/>
            <a:ext cx="1057301" cy="38033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cxnSp>
        <p:nvCxnSpPr>
          <p:cNvPr id="87" name="Ευθύγραμμο βέλος σύνδεσης 86">
            <a:extLst>
              <a:ext uri="{FF2B5EF4-FFF2-40B4-BE49-F238E27FC236}">
                <a16:creationId xmlns:a16="http://schemas.microsoft.com/office/drawing/2014/main" id="{444E032C-ED53-8DF7-BE42-B907767CAC14}"/>
              </a:ext>
            </a:extLst>
          </p:cNvPr>
          <p:cNvCxnSpPr>
            <a:cxnSpLocks/>
          </p:cNvCxnSpPr>
          <p:nvPr/>
        </p:nvCxnSpPr>
        <p:spPr>
          <a:xfrm flipV="1">
            <a:off x="4046654" y="5991243"/>
            <a:ext cx="4346232" cy="1146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9" name="Έλλειψη 88">
            <a:extLst>
              <a:ext uri="{FF2B5EF4-FFF2-40B4-BE49-F238E27FC236}">
                <a16:creationId xmlns:a16="http://schemas.microsoft.com/office/drawing/2014/main" id="{F915097F-FFB3-2F5D-0D41-2055FEF6F1CC}"/>
              </a:ext>
            </a:extLst>
          </p:cNvPr>
          <p:cNvSpPr/>
          <p:nvPr/>
        </p:nvSpPr>
        <p:spPr>
          <a:xfrm rot="20296214">
            <a:off x="8991600" y="5565443"/>
            <a:ext cx="642257" cy="823689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0" name="Έλλειψη 89">
            <a:extLst>
              <a:ext uri="{FF2B5EF4-FFF2-40B4-BE49-F238E27FC236}">
                <a16:creationId xmlns:a16="http://schemas.microsoft.com/office/drawing/2014/main" id="{13F75948-87B4-7B4E-BBE3-4FE9C3224F2B}"/>
              </a:ext>
            </a:extLst>
          </p:cNvPr>
          <p:cNvSpPr/>
          <p:nvPr/>
        </p:nvSpPr>
        <p:spPr>
          <a:xfrm>
            <a:off x="3675108" y="5991243"/>
            <a:ext cx="346062" cy="34888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1" name="Έλλειψη 90">
            <a:extLst>
              <a:ext uri="{FF2B5EF4-FFF2-40B4-BE49-F238E27FC236}">
                <a16:creationId xmlns:a16="http://schemas.microsoft.com/office/drawing/2014/main" id="{760D886E-889E-63F1-1483-8168D8663880}"/>
              </a:ext>
            </a:extLst>
          </p:cNvPr>
          <p:cNvSpPr/>
          <p:nvPr/>
        </p:nvSpPr>
        <p:spPr>
          <a:xfrm>
            <a:off x="3194498" y="5977287"/>
            <a:ext cx="382063" cy="369332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cxnSp>
        <p:nvCxnSpPr>
          <p:cNvPr id="93" name="Ευθύγραμμο βέλος σύνδεσης 92">
            <a:extLst>
              <a:ext uri="{FF2B5EF4-FFF2-40B4-BE49-F238E27FC236}">
                <a16:creationId xmlns:a16="http://schemas.microsoft.com/office/drawing/2014/main" id="{DC643DBB-C6E1-236C-DBAB-D7A7AECCC45F}"/>
              </a:ext>
            </a:extLst>
          </p:cNvPr>
          <p:cNvCxnSpPr>
            <a:cxnSpLocks/>
          </p:cNvCxnSpPr>
          <p:nvPr/>
        </p:nvCxnSpPr>
        <p:spPr>
          <a:xfrm flipV="1">
            <a:off x="3540392" y="5334621"/>
            <a:ext cx="4994008" cy="60015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Έλλειψη 93">
            <a:extLst>
              <a:ext uri="{FF2B5EF4-FFF2-40B4-BE49-F238E27FC236}">
                <a16:creationId xmlns:a16="http://schemas.microsoft.com/office/drawing/2014/main" id="{6C8D0A8A-376B-3D46-688E-F34B63901D61}"/>
              </a:ext>
            </a:extLst>
          </p:cNvPr>
          <p:cNvSpPr/>
          <p:nvPr/>
        </p:nvSpPr>
        <p:spPr>
          <a:xfrm rot="2080108">
            <a:off x="8979582" y="4713893"/>
            <a:ext cx="581558" cy="893071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119957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500"/>
                            </p:stCondLst>
                            <p:childTnLst>
                              <p:par>
                                <p:cTn id="18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500"/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1000"/>
                            </p:stCondLst>
                            <p:childTnLst>
                              <p:par>
                                <p:cTn id="19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"/>
                            </p:stCondLst>
                            <p:childTnLst>
                              <p:par>
                                <p:cTn id="21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1000"/>
                            </p:stCondLst>
                            <p:childTnLst>
                              <p:par>
                                <p:cTn id="21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2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500"/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/>
      <p:bldP spid="10" grpId="0" animBg="1"/>
      <p:bldP spid="11" grpId="0" animBg="1"/>
      <p:bldP spid="13" grpId="0" animBg="1"/>
      <p:bldP spid="14" grpId="0" animBg="1"/>
      <p:bldP spid="21" grpId="0" animBg="1"/>
      <p:bldP spid="22" grpId="0" animBg="1"/>
      <p:bldP spid="12" grpId="0" animBg="1"/>
      <p:bldP spid="15" grpId="0" animBg="1"/>
      <p:bldP spid="23" grpId="0" animBg="1"/>
      <p:bldP spid="6" grpId="0" animBg="1"/>
      <p:bldP spid="16" grpId="0" animBg="1"/>
      <p:bldP spid="20" grpId="0"/>
      <p:bldP spid="27" grpId="0"/>
      <p:bldP spid="28" grpId="0"/>
      <p:bldP spid="29" grpId="0"/>
      <p:bldP spid="30" grpId="0"/>
      <p:bldP spid="31" grpId="0"/>
      <p:bldP spid="40" grpId="0"/>
      <p:bldP spid="41" grpId="0"/>
      <p:bldP spid="42" grpId="0"/>
      <p:bldP spid="43" grpId="0"/>
      <p:bldP spid="66" grpId="0"/>
      <p:bldP spid="68" grpId="0"/>
      <p:bldP spid="70" grpId="0"/>
      <p:bldP spid="70" grpId="1"/>
      <p:bldP spid="71" grpId="0" animBg="1"/>
      <p:bldP spid="72" grpId="0"/>
      <p:bldP spid="73" grpId="0" animBg="1"/>
      <p:bldP spid="74" grpId="0"/>
      <p:bldP spid="83" grpId="0" animBg="1"/>
      <p:bldP spid="84" grpId="0" animBg="1"/>
      <p:bldP spid="89" grpId="0" animBg="1"/>
      <p:bldP spid="90" grpId="0" animBg="1"/>
      <p:bldP spid="91" grpId="0" animBg="1"/>
      <p:bldP spid="9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F9031-4715-F11E-069F-22A60C749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R"/>
              <a:t>Thermodynamics Laws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F10D95-380B-59C8-5FB8-1FE22EF82741}"/>
                  </a:ext>
                </a:extLst>
              </p:cNvPr>
              <p:cNvSpPr txBox="1"/>
              <p:nvPr/>
            </p:nvSpPr>
            <p:spPr>
              <a:xfrm>
                <a:off x="981012" y="1690688"/>
                <a:ext cx="7036641" cy="25842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𝒔𝒕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𝑳𝒂𝒘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𝑻𝒉𝒆𝒓𝒎𝒐𝒅𝒚𝒏𝒂𝒎𝒊𝒄𝒔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𝑑𝑈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Σ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Σ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𝑻𝒓𝒂𝒏𝒔𝒑𝒐𝒓𝒕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𝑳𝒂𝒘𝒔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𝐶𝑜𝑛𝑑𝑢𝑐𝑡𝑖𝑜𝑛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𝑘𝐴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   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cond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</m:den>
                    </m:f>
                  </m:oMath>
                </a14:m>
                <a:endParaRPr lang="en-GR" dirty="0"/>
              </a:p>
              <a:p>
                <a:pPr marL="285750" indent="-285750"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𝐶𝑜𝑛𝑣𝑒𝑐𝑡𝑖𝑜𝑛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ℎ𝐴</m:t>
                    </m:r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conv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b="0" dirty="0"/>
              </a:p>
              <a:p>
                <a:pPr marL="285750" indent="-285750"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𝑅𝑎𝑑𝑖𝑎𝑡𝑖𝑜𝑛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b="0" dirty="0"/>
              </a:p>
              <a:p>
                <a:pPr marL="285750" indent="-285750"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𝐴𝑑𝑣𝑒𝑐𝑡𝑖𝑜𝑛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l-G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endParaRPr lang="en-G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F10D95-380B-59C8-5FB8-1FE22EF82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2" y="1690688"/>
                <a:ext cx="7036641" cy="2584297"/>
              </a:xfrm>
              <a:prstGeom prst="rect">
                <a:avLst/>
              </a:prstGeom>
              <a:blipFill>
                <a:blip r:embed="rId2"/>
                <a:stretch>
                  <a:fillRect l="-607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50DD969-00B9-72EC-057C-8977C3C5B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029" y="842651"/>
            <a:ext cx="2899313" cy="1718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28298-20AD-FD85-4C09-889B032C34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2" y="2806644"/>
            <a:ext cx="2903170" cy="18368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B1B5C8-C606-37AF-C736-9584902D2D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5172" y="4832358"/>
            <a:ext cx="1974850" cy="1854200"/>
          </a:xfrm>
          <a:prstGeom prst="rect">
            <a:avLst/>
          </a:prstGeom>
        </p:spPr>
      </p:pic>
      <p:pic>
        <p:nvPicPr>
          <p:cNvPr id="7" name="Picture 6" descr="Conduction , Convection and Advection and Heat Budget | Heat Balance -  Terminologies Explained .">
            <a:extLst>
              <a:ext uri="{FF2B5EF4-FFF2-40B4-BE49-F238E27FC236}">
                <a16:creationId xmlns:a16="http://schemas.microsoft.com/office/drawing/2014/main" id="{6BEF1D75-B17F-ED6E-1C76-C88B47C3E0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3355" y="4369759"/>
            <a:ext cx="3920264" cy="22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34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A192-CF13-478A-0904-6D17AA92D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R" dirty="0"/>
              <a:t>Equations &amp; Space 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B1371C7-F727-7B3C-FB8A-5E8C7641E149}"/>
                  </a:ext>
                </a:extLst>
              </p:cNvPr>
              <p:cNvSpPr txBox="1"/>
              <p:nvPr/>
            </p:nvSpPr>
            <p:spPr>
              <a:xfrm>
                <a:off x="694944" y="1828800"/>
                <a:ext cx="8034528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𝐷𝑈𝑇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𝑎𝑢𝑥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𝑔𝑎𝑝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GR" dirty="0"/>
                  <a:t> 	(air)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B1371C7-F727-7B3C-FB8A-5E8C7641E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44" y="1828800"/>
                <a:ext cx="8034528" cy="391902"/>
              </a:xfrm>
              <a:prstGeom prst="rect">
                <a:avLst/>
              </a:prstGeom>
              <a:blipFill>
                <a:blip r:embed="rId2"/>
                <a:stretch>
                  <a:fillRect t="-6452" b="-19355"/>
                </a:stretch>
              </a:blipFill>
            </p:spPr>
            <p:txBody>
              <a:bodyPr/>
              <a:lstStyle/>
              <a:p>
                <a:r>
                  <a:rPr lang="en-G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2437C6-6506-187F-874C-9F4F0E78FEE4}"/>
                  </a:ext>
                </a:extLst>
              </p:cNvPr>
              <p:cNvSpPr txBox="1"/>
              <p:nvPr/>
            </p:nvSpPr>
            <p:spPr>
              <a:xfrm>
                <a:off x="790192" y="2462459"/>
                <a:ext cx="8963406" cy="2984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bSup>
                      <m:sSubSup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𝐷𝑈𝑇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sub>
                    </m:sSub>
                    <m:d>
                      <m:d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GR" dirty="0"/>
                  <a:t>  		(block + water)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2437C6-6506-187F-874C-9F4F0E78F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92" y="2462459"/>
                <a:ext cx="8963406" cy="298415"/>
              </a:xfrm>
              <a:prstGeom prst="rect">
                <a:avLst/>
              </a:prstGeom>
              <a:blipFill>
                <a:blip r:embed="rId3"/>
                <a:stretch>
                  <a:fillRect l="-850" t="-20000" b="-40000"/>
                </a:stretch>
              </a:blipFill>
            </p:spPr>
            <p:txBody>
              <a:bodyPr/>
              <a:lstStyle/>
              <a:p>
                <a:r>
                  <a:rPr lang="en-G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BE71AD-A86B-8870-5C8F-E5D774F4775C}"/>
                  </a:ext>
                </a:extLst>
              </p:cNvPr>
              <p:cNvSpPr txBox="1"/>
              <p:nvPr/>
            </p:nvSpPr>
            <p:spPr>
              <a:xfrm>
                <a:off x="790194" y="3002631"/>
                <a:ext cx="10563606" cy="2984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sSubSup>
                      <m:sSubSup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  <m:sup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𝑔𝑎𝑝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sSub>
                      <m:sSub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GR" dirty="0"/>
                  <a:t>				(Guard gap)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BE71AD-A86B-8870-5C8F-E5D774F4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94" y="3002631"/>
                <a:ext cx="10563606" cy="298415"/>
              </a:xfrm>
              <a:prstGeom prst="rect">
                <a:avLst/>
              </a:prstGeom>
              <a:blipFill>
                <a:blip r:embed="rId4"/>
                <a:stretch>
                  <a:fillRect l="-720" t="-24000" b="-36000"/>
                </a:stretch>
              </a:blipFill>
            </p:spPr>
            <p:txBody>
              <a:bodyPr/>
              <a:lstStyle/>
              <a:p>
                <a:r>
                  <a:rPr lang="en-G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A05A43-0E3A-14DF-B9CB-F8256B4481F9}"/>
                  </a:ext>
                </a:extLst>
              </p:cNvPr>
              <p:cNvSpPr txBox="1"/>
              <p:nvPr/>
            </p:nvSpPr>
            <p:spPr>
              <a:xfrm>
                <a:off x="766189" y="3542803"/>
                <a:ext cx="10563605" cy="2984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𝑚𝑒𝑎𝑠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l-G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𝑎𝑢𝑥</m:t>
                    </m:r>
                  </m:oMath>
                </a14:m>
                <a:r>
                  <a:rPr lang="en-GR" dirty="0"/>
                  <a:t>					(the meter)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A05A43-0E3A-14DF-B9CB-F8256B448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89" y="3542803"/>
                <a:ext cx="10563605" cy="298415"/>
              </a:xfrm>
              <a:prstGeom prst="rect">
                <a:avLst/>
              </a:prstGeom>
              <a:blipFill>
                <a:blip r:embed="rId5"/>
                <a:stretch>
                  <a:fillRect l="-720" t="-20000" b="-36000"/>
                </a:stretch>
              </a:blipFill>
            </p:spPr>
            <p:txBody>
              <a:bodyPr/>
              <a:lstStyle/>
              <a:p>
                <a:r>
                  <a:rPr lang="en-G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55B3371-FBBB-1872-DD74-F087AB6C44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784" y="2903562"/>
            <a:ext cx="5620337" cy="10423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05FD1D-CA79-6A46-319D-E37FFD264B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4385" y="2330479"/>
            <a:ext cx="5415961" cy="21970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488D7-566A-D735-F736-F16B18E1FC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784" y="4509861"/>
            <a:ext cx="4802833" cy="17780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45D859-960F-6C3F-85BD-4DE0828BFE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7494" y="5158754"/>
            <a:ext cx="5467055" cy="4802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B7C527-7617-3223-6E16-BF3EAC806E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1737729"/>
            <a:ext cx="3937000" cy="469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D5F239C-5953-C393-1796-663303227D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2299096"/>
            <a:ext cx="5207000" cy="49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6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FD7455-B9F0-B6FF-0C7D-61F0138FA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7096"/>
            <a:ext cx="12167616" cy="608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40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7B0C6B-DE63-D323-E0A9-0A24D3B64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967C7E-0251-753B-D7DA-C6D0E3AF7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433" y="0"/>
            <a:ext cx="10833874" cy="685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457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14FB8-F59C-4AF4-81C8-3C0A11E44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R" dirty="0"/>
              <a:t>Safety Measurements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E9A6F5-5003-6738-BCC5-C8A55C47CFC0}"/>
              </a:ext>
            </a:extLst>
          </p:cNvPr>
          <p:cNvSpPr txBox="1"/>
          <p:nvPr/>
        </p:nvSpPr>
        <p:spPr>
          <a:xfrm>
            <a:off x="431800" y="1859339"/>
            <a:ext cx="5664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sz="2400" b="1" dirty="0"/>
              <a:t>Hardware:</a:t>
            </a:r>
          </a:p>
          <a:p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Input mosfet as input diode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Current sense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Avoid wiring boot strap pins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ESD 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6144E-815C-E5F5-AEF9-2C0B02F7C454}"/>
              </a:ext>
            </a:extLst>
          </p:cNvPr>
          <p:cNvSpPr txBox="1"/>
          <p:nvPr/>
        </p:nvSpPr>
        <p:spPr>
          <a:xfrm>
            <a:off x="6197600" y="1859339"/>
            <a:ext cx="53721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sz="2400" b="1" dirty="0"/>
              <a:t>Firmware:</a:t>
            </a:r>
          </a:p>
          <a:p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Zephyr 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Scheduler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2400" dirty="0"/>
              <a:t>Safety Threads</a:t>
            </a:r>
          </a:p>
        </p:txBody>
      </p:sp>
      <p:pic>
        <p:nvPicPr>
          <p:cNvPr id="5" name="Picture 4" descr="Zephyr RTOS: Definition, Vorteile und Anwendung">
            <a:extLst>
              <a:ext uri="{FF2B5EF4-FFF2-40B4-BE49-F238E27FC236}">
                <a16:creationId xmlns:a16="http://schemas.microsoft.com/office/drawing/2014/main" id="{9190100A-097D-197C-C5FC-60F55B387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700" y="2485330"/>
            <a:ext cx="1308100" cy="67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405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3A173C2-C271-A008-A3FF-2F825B5C2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606" y="-32787"/>
            <a:ext cx="12233211" cy="692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9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546AE-349B-DE50-3587-B80F057D9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R" dirty="0"/>
              <a:t>Zephy Directory and File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72E395-1D4A-84E7-771B-A5C22EF35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" y="1690688"/>
            <a:ext cx="9066567" cy="5156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14E9CC-261F-AD03-13B8-20D868FB6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0215" y="0"/>
            <a:ext cx="11484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591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D28BAA-DDDF-63C3-295F-FAED85779D14}"/>
              </a:ext>
            </a:extLst>
          </p:cNvPr>
          <p:cNvSpPr txBox="1"/>
          <p:nvPr/>
        </p:nvSpPr>
        <p:spPr>
          <a:xfrm>
            <a:off x="2949575" y="3013501"/>
            <a:ext cx="6292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sz="4800" dirty="0"/>
              <a:t>Thank you for your time</a:t>
            </a:r>
          </a:p>
        </p:txBody>
      </p:sp>
    </p:spTree>
    <p:extLst>
      <p:ext uri="{BB962C8B-B14F-4D97-AF65-F5344CB8AC3E}">
        <p14:creationId xmlns:p14="http://schemas.microsoft.com/office/powerpoint/2010/main" val="415837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AB2FA6-8E16-A940-A901-EE92B47C3B1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3ee51b3-3071-4ec5-be99-3fd871e498a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931</TotalTime>
  <Words>272</Words>
  <Application>Microsoft Macintosh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Wingdings</vt:lpstr>
      <vt:lpstr>Office Theme</vt:lpstr>
      <vt:lpstr>Calorimeter for High Efficiency converters</vt:lpstr>
      <vt:lpstr>Double Jacket Chamber</vt:lpstr>
      <vt:lpstr>Thermodynamics Laws </vt:lpstr>
      <vt:lpstr>Equations &amp; Space State</vt:lpstr>
      <vt:lpstr>PowerPoint Presentation</vt:lpstr>
      <vt:lpstr>PowerPoint Presentation</vt:lpstr>
      <vt:lpstr>PowerPoint Presentation</vt:lpstr>
      <vt:lpstr>Safety Measurements</vt:lpstr>
      <vt:lpstr>PowerPoint Presentation</vt:lpstr>
      <vt:lpstr>Zephy Directory and File structure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Vasilis Gkionis</dc:creator>
  <cp:lastModifiedBy>Vasilis Gkionis</cp:lastModifiedBy>
  <cp:revision>14</cp:revision>
  <dcterms:created xsi:type="dcterms:W3CDTF">2026-08-31T11:27:32Z</dcterms:created>
  <dcterms:modified xsi:type="dcterms:W3CDTF">2026-09-01T06:56:13Z</dcterms:modified>
</cp:coreProperties>
</file>