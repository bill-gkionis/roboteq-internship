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43"/>
    <p:restoredTop sz="94643"/>
  </p:normalViewPr>
  <p:slideViewPr>
    <p:cSldViewPr snapToGrid="0">
      <p:cViewPr>
        <p:scale>
          <a:sx n="176" d="100"/>
          <a:sy n="176" d="100"/>
        </p:scale>
        <p:origin x="-2128" y="-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C04E405-0F02-69F3-2DAC-0D874F8AB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01887A7E-EF90-F9A8-D850-130DBE269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2240F63-B40A-18C8-8E29-C6F27596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058A1-418C-B644-BA3A-7487D8636D4D}" type="datetimeFigureOut">
              <a:rPr lang="el-GR" smtClean="0"/>
              <a:t>3/7/26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43BC4CEE-25D6-54C9-EF07-D4CFAB78A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DC6D3AB5-3631-3826-7177-BFC43B7CD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1F-957A-AF4D-9658-D53EF7F3702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94277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6931ADB-D2BE-922B-C61D-23506AA01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E7200B2-D044-9DD3-B709-C06439FFA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8F9997C1-C218-B36F-C4AC-F89FD6773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058A1-418C-B644-BA3A-7487D8636D4D}" type="datetimeFigureOut">
              <a:rPr lang="el-GR" smtClean="0"/>
              <a:t>3/7/26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AF1EE3F-9618-D6A6-54EF-33E0D0D9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D7DE5E12-D360-7E60-409B-0CADB146B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1F-957A-AF4D-9658-D53EF7F3702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05093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945BA2B-4F93-DCDA-E67D-C6AF743A5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BF704D04-AB1E-3898-C5D1-6D54535F7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EE77C4D-13A6-29FE-0F7C-43E31CFD7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058A1-418C-B644-BA3A-7487D8636D4D}" type="datetimeFigureOut">
              <a:rPr lang="el-GR" smtClean="0"/>
              <a:t>3/7/26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9E2536F-9C9A-415A-B6FA-3065AF661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A07EC2D-D932-3202-C990-7244F85CD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1F-957A-AF4D-9658-D53EF7F3702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48314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105B386-FF98-21E4-D0BD-D68821071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A317DB1-19C8-29C0-F84F-79CD41CA71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2AEA7A32-9F96-09AE-0BDB-52A739E86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CEB23866-96D8-3258-B68F-867095506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058A1-418C-B644-BA3A-7487D8636D4D}" type="datetimeFigureOut">
              <a:rPr lang="el-GR" smtClean="0"/>
              <a:t>3/7/26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D9A0287E-6688-320B-8482-308CBA567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DBD07615-3D44-BDB7-F9C4-8E3110675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1F-957A-AF4D-9658-D53EF7F3702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91758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751A22C-D3BE-D487-CA03-B709A89AD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00D65BF3-C4C7-3440-4814-DBA23607E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E16476D-B928-8685-7361-3981FD16E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C832D452-893D-C49A-92C2-1EB1E87168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83ECA81-EB65-442E-2346-1E0B4B7B95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CB7E7CA3-F965-4E74-E1B1-9DBE82C5F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058A1-418C-B644-BA3A-7487D8636D4D}" type="datetimeFigureOut">
              <a:rPr lang="el-GR" smtClean="0"/>
              <a:t>3/7/26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54DF0E69-596C-23CD-2623-200340968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AB9214CB-96F9-BE31-9CD3-98B7C0A2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1F-957A-AF4D-9658-D53EF7F3702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0518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6FAF07-F23A-051F-53AC-CB72EF370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5E1E9CB-E91C-219F-588F-F1C2055AA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058A1-418C-B644-BA3A-7487D8636D4D}" type="datetimeFigureOut">
              <a:rPr lang="el-GR" smtClean="0"/>
              <a:t>3/7/26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6734DE5E-988F-C167-C5B4-9E1822F17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090CCE0B-4EA6-87E0-D22D-7D7218ECA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1F-957A-AF4D-9658-D53EF7F3702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05466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BD6E5F4D-3BF7-ACE1-243C-CBA9153F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058A1-418C-B644-BA3A-7487D8636D4D}" type="datetimeFigureOut">
              <a:rPr lang="el-GR" smtClean="0"/>
              <a:t>3/7/26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3EAA0311-13EB-6FAD-CE1F-2B96129E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4C73943-AC79-39F8-96C7-48F70DEB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1F-957A-AF4D-9658-D53EF7F3702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3354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E726AE1-1A57-52AE-C9FD-D025CB5CC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D459156-AA8E-6AED-9BDD-CA1E0B28B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7A6BE1AD-3185-D006-7245-497CF4F15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82F1A65-27C2-DF1D-A0C1-84137E8E9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058A1-418C-B644-BA3A-7487D8636D4D}" type="datetimeFigureOut">
              <a:rPr lang="el-GR" smtClean="0"/>
              <a:t>3/7/26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695D72A4-B3E8-0B08-7BEC-4AB776C12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D4CC5E41-BE46-A38F-97FD-B2810128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1F-957A-AF4D-9658-D53EF7F3702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8494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199F45E-DAA9-CF98-932E-663FCF1AD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0D0A8250-4C60-713C-5838-1710F88F1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9BC79D99-4C6D-3C83-4579-C7761372F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209CA170-05F5-06D1-FCB4-592E0CBF3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058A1-418C-B644-BA3A-7487D8636D4D}" type="datetimeFigureOut">
              <a:rPr lang="el-GR" smtClean="0"/>
              <a:t>3/7/26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5E3163D8-5E18-AE5D-1AEA-9C6D111B3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2B3AA42-206B-5215-4620-509E984F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1F-957A-AF4D-9658-D53EF7F3702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86092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7596424-85D6-959D-BAE0-6E7DADF42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F48E4868-E17F-AC60-F218-4A219FDD3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809BF2C-8E95-A632-6734-D62A36A8D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058A1-418C-B644-BA3A-7487D8636D4D}" type="datetimeFigureOut">
              <a:rPr lang="el-GR" smtClean="0"/>
              <a:t>3/7/26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1F6A2AF-CD99-3E37-0E48-2B33316E5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F41EC9C0-9F88-2C49-A0E3-686BEB885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1F-957A-AF4D-9658-D53EF7F3702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554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975ABFA4-AC60-97B7-E9C0-6E80FDAC0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9F3A31D6-3B3A-3771-9ADD-E232394B6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E8942589-13E2-3EF7-C11A-41DE4F5A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058A1-418C-B644-BA3A-7487D8636D4D}" type="datetimeFigureOut">
              <a:rPr lang="el-GR" smtClean="0"/>
              <a:t>3/7/26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E93EC104-1C3E-04A5-866D-59478BF65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4D27FE7-4022-7C5F-D1AE-2CBAC0F3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0041F-957A-AF4D-9658-D53EF7F3702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805761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D2481508-8D1E-BC7C-5257-32C51507B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FEECC13A-683C-259B-2E85-D816CB0F5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12792A2-217C-31EA-10A7-A5AB02C47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D058A1-418C-B644-BA3A-7487D8636D4D}" type="datetimeFigureOut">
              <a:rPr lang="el-GR" smtClean="0"/>
              <a:t>3/7/26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8E95F4E-7011-6F26-06C3-9CCB0C27A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2DC445EB-0E8E-ED54-7C71-22A63AD27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0041F-957A-AF4D-9658-D53EF7F3702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01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C096222-B653-1296-BA1F-1277552B1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Double Jacket Chamber</a:t>
            </a:r>
            <a:endParaRPr lang="el-GR" dirty="0"/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D714D51E-7BDD-BFCB-382E-6FF288C54211}"/>
              </a:ext>
            </a:extLst>
          </p:cNvPr>
          <p:cNvSpPr/>
          <p:nvPr/>
        </p:nvSpPr>
        <p:spPr>
          <a:xfrm>
            <a:off x="2148469" y="2276087"/>
            <a:ext cx="3947531" cy="32338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5" name="Ορθογώνιο 4">
            <a:extLst>
              <a:ext uri="{FF2B5EF4-FFF2-40B4-BE49-F238E27FC236}">
                <a16:creationId xmlns:a16="http://schemas.microsoft.com/office/drawing/2014/main" id="{1A4EE32C-74A0-4A76-6AF5-E4C750DD3348}"/>
              </a:ext>
            </a:extLst>
          </p:cNvPr>
          <p:cNvSpPr/>
          <p:nvPr/>
        </p:nvSpPr>
        <p:spPr>
          <a:xfrm>
            <a:off x="2850995" y="2644077"/>
            <a:ext cx="2548053" cy="1940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7" name="Ευθεία γραμμή σύνδεσης 6">
            <a:extLst>
              <a:ext uri="{FF2B5EF4-FFF2-40B4-BE49-F238E27FC236}">
                <a16:creationId xmlns:a16="http://schemas.microsoft.com/office/drawing/2014/main" id="{DB7B9A97-428C-8F70-2F96-6EC858596E61}"/>
              </a:ext>
            </a:extLst>
          </p:cNvPr>
          <p:cNvCxnSpPr/>
          <p:nvPr/>
        </p:nvCxnSpPr>
        <p:spPr>
          <a:xfrm>
            <a:off x="3486615" y="3614233"/>
            <a:ext cx="13269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Ορθογώνιο 7">
            <a:extLst>
              <a:ext uri="{FF2B5EF4-FFF2-40B4-BE49-F238E27FC236}">
                <a16:creationId xmlns:a16="http://schemas.microsoft.com/office/drawing/2014/main" id="{62AEC2D3-B49A-2793-9B9D-877BCB075D00}"/>
              </a:ext>
            </a:extLst>
          </p:cNvPr>
          <p:cNvSpPr/>
          <p:nvPr/>
        </p:nvSpPr>
        <p:spPr>
          <a:xfrm>
            <a:off x="3367053" y="3891777"/>
            <a:ext cx="830765" cy="5464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44C93D-928B-4502-49F4-C5801B48A231}"/>
              </a:ext>
            </a:extLst>
          </p:cNvPr>
          <p:cNvSpPr txBox="1"/>
          <p:nvPr/>
        </p:nvSpPr>
        <p:spPr>
          <a:xfrm>
            <a:off x="3447898" y="3991465"/>
            <a:ext cx="669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DUT</a:t>
            </a:r>
            <a:endParaRPr lang="el-GR" b="1" dirty="0"/>
          </a:p>
        </p:txBody>
      </p:sp>
      <p:sp>
        <p:nvSpPr>
          <p:cNvPr id="10" name="Έλλειψη 9">
            <a:extLst>
              <a:ext uri="{FF2B5EF4-FFF2-40B4-BE49-F238E27FC236}">
                <a16:creationId xmlns:a16="http://schemas.microsoft.com/office/drawing/2014/main" id="{BA87025C-73BD-2311-8273-A559E1B0A4ED}"/>
              </a:ext>
            </a:extLst>
          </p:cNvPr>
          <p:cNvSpPr/>
          <p:nvPr/>
        </p:nvSpPr>
        <p:spPr>
          <a:xfrm>
            <a:off x="4738494" y="2883208"/>
            <a:ext cx="89210" cy="20072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1" name="Έλλειψη 10">
            <a:extLst>
              <a:ext uri="{FF2B5EF4-FFF2-40B4-BE49-F238E27FC236}">
                <a16:creationId xmlns:a16="http://schemas.microsoft.com/office/drawing/2014/main" id="{C5E0002E-8118-98A6-DB1C-0952FD9B88D7}"/>
              </a:ext>
            </a:extLst>
          </p:cNvPr>
          <p:cNvSpPr/>
          <p:nvPr/>
        </p:nvSpPr>
        <p:spPr>
          <a:xfrm>
            <a:off x="4738494" y="3039326"/>
            <a:ext cx="89210" cy="20072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3" name="Έλλειψη 12">
            <a:extLst>
              <a:ext uri="{FF2B5EF4-FFF2-40B4-BE49-F238E27FC236}">
                <a16:creationId xmlns:a16="http://schemas.microsoft.com/office/drawing/2014/main" id="{2860D69D-F76D-FB37-D5BD-E72198CED76E}"/>
              </a:ext>
            </a:extLst>
          </p:cNvPr>
          <p:cNvSpPr/>
          <p:nvPr/>
        </p:nvSpPr>
        <p:spPr>
          <a:xfrm>
            <a:off x="5229923" y="4866568"/>
            <a:ext cx="89210" cy="20072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4" name="Έλλειψη 13">
            <a:extLst>
              <a:ext uri="{FF2B5EF4-FFF2-40B4-BE49-F238E27FC236}">
                <a16:creationId xmlns:a16="http://schemas.microsoft.com/office/drawing/2014/main" id="{E9D49909-6F18-C835-7452-A8912BE32EEC}"/>
              </a:ext>
            </a:extLst>
          </p:cNvPr>
          <p:cNvSpPr/>
          <p:nvPr/>
        </p:nvSpPr>
        <p:spPr>
          <a:xfrm>
            <a:off x="5229923" y="5022686"/>
            <a:ext cx="89210" cy="20072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1" name="Resistor heater (i)"/>
          <p:cNvSpPr/>
          <p:nvPr/>
        </p:nvSpPr>
        <p:spPr>
          <a:xfrm>
            <a:off x="4353476" y="4117858"/>
            <a:ext cx="787400" cy="203200"/>
          </a:xfrm>
          <a:custGeom>
            <a:avLst/>
            <a:gdLst/>
            <a:ahLst/>
            <a:cxnLst/>
            <a:rect l="0" t="0" r="1000" b="300"/>
            <a:pathLst>
              <a:path w="1000" h="300" fill="none">
                <a:moveTo>
                  <a:pt x="0" y="150"/>
                </a:moveTo>
                <a:lnTo>
                  <a:pt x="125" y="150"/>
                </a:lnTo>
                <a:lnTo>
                  <a:pt x="200" y="0"/>
                </a:lnTo>
                <a:lnTo>
                  <a:pt x="350" y="300"/>
                </a:lnTo>
                <a:lnTo>
                  <a:pt x="500" y="0"/>
                </a:lnTo>
                <a:lnTo>
                  <a:pt x="650" y="300"/>
                </a:lnTo>
                <a:lnTo>
                  <a:pt x="800" y="0"/>
                </a:lnTo>
                <a:lnTo>
                  <a:pt x="875" y="150"/>
                </a:lnTo>
                <a:lnTo>
                  <a:pt x="1000" y="15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</a:ln>
        </p:spPr>
        <p:txBody>
          <a:bodyPr/>
          <a:lstStyle/>
          <a:p>
            <a:endParaRPr lang="el-GR"/>
          </a:p>
        </p:txBody>
      </p:sp>
      <p:sp>
        <p:nvSpPr>
          <p:cNvPr id="22" name="Resistor heater (e)"/>
          <p:cNvSpPr/>
          <p:nvPr/>
        </p:nvSpPr>
        <p:spPr>
          <a:xfrm>
            <a:off x="4046654" y="4958575"/>
            <a:ext cx="787400" cy="203200"/>
          </a:xfrm>
          <a:custGeom>
            <a:avLst/>
            <a:gdLst/>
            <a:ahLst/>
            <a:cxnLst/>
            <a:rect l="0" t="0" r="1000" b="300"/>
            <a:pathLst>
              <a:path w="1000" h="300" fill="none">
                <a:moveTo>
                  <a:pt x="0" y="150"/>
                </a:moveTo>
                <a:lnTo>
                  <a:pt x="125" y="150"/>
                </a:lnTo>
                <a:lnTo>
                  <a:pt x="200" y="0"/>
                </a:lnTo>
                <a:lnTo>
                  <a:pt x="350" y="300"/>
                </a:lnTo>
                <a:lnTo>
                  <a:pt x="500" y="0"/>
                </a:lnTo>
                <a:lnTo>
                  <a:pt x="650" y="300"/>
                </a:lnTo>
                <a:lnTo>
                  <a:pt x="800" y="0"/>
                </a:lnTo>
                <a:lnTo>
                  <a:pt x="875" y="150"/>
                </a:lnTo>
                <a:lnTo>
                  <a:pt x="1000" y="15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</a:ln>
        </p:spPr>
        <p:txBody>
          <a:bodyPr/>
          <a:lstStyle/>
          <a:p>
            <a:endParaRPr lang="el-GR"/>
          </a:p>
        </p:txBody>
      </p:sp>
      <p:sp>
        <p:nvSpPr>
          <p:cNvPr id="12" name="Καμπύλο αριστερό βέλος 11">
            <a:extLst>
              <a:ext uri="{FF2B5EF4-FFF2-40B4-BE49-F238E27FC236}">
                <a16:creationId xmlns:a16="http://schemas.microsoft.com/office/drawing/2014/main" id="{BF6620EE-B03B-4E72-C77D-F4A569B0BB97}"/>
              </a:ext>
            </a:extLst>
          </p:cNvPr>
          <p:cNvSpPr/>
          <p:nvPr/>
        </p:nvSpPr>
        <p:spPr>
          <a:xfrm>
            <a:off x="5036635" y="3014882"/>
            <a:ext cx="237893" cy="1054677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>
              <a:solidFill>
                <a:schemeClr val="tx1"/>
              </a:solidFill>
            </a:endParaRPr>
          </a:p>
        </p:txBody>
      </p:sp>
      <p:sp>
        <p:nvSpPr>
          <p:cNvPr id="15" name="Καμπύλο αριστερό βέλος 14">
            <a:extLst>
              <a:ext uri="{FF2B5EF4-FFF2-40B4-BE49-F238E27FC236}">
                <a16:creationId xmlns:a16="http://schemas.microsoft.com/office/drawing/2014/main" id="{704C494E-855B-FB3E-A4A5-B10B93508C16}"/>
              </a:ext>
            </a:extLst>
          </p:cNvPr>
          <p:cNvSpPr/>
          <p:nvPr/>
        </p:nvSpPr>
        <p:spPr>
          <a:xfrm rot="10800000">
            <a:off x="2960495" y="3008650"/>
            <a:ext cx="237893" cy="1054677"/>
          </a:xfrm>
          <a:prstGeom prst="curved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23" name="Radiator"/>
          <p:cNvSpPr/>
          <p:nvPr/>
        </p:nvSpPr>
        <p:spPr>
          <a:xfrm>
            <a:off x="3356674" y="1993909"/>
            <a:ext cx="1257300" cy="1231900"/>
          </a:xfrm>
          <a:custGeom>
            <a:avLst/>
            <a:gdLst/>
            <a:ahLst/>
            <a:cxnLst/>
            <a:rect l="0" t="0" r="990" b="970"/>
            <a:pathLst>
              <a:path w="990" h="970" fill="none">
                <a:moveTo>
                  <a:pt x="0" y="0"/>
                </a:moveTo>
                <a:lnTo>
                  <a:pt x="0" y="925"/>
                </a:lnTo>
                <a:arcTo wR="45" hR="45" stAng="10800000" swAng="-10800000"/>
                <a:lnTo>
                  <a:pt x="90" y="755"/>
                </a:lnTo>
                <a:arcTo wR="45" hR="45" stAng="10800000" swAng="10800000"/>
                <a:lnTo>
                  <a:pt x="180" y="925"/>
                </a:lnTo>
                <a:arcTo wR="45" hR="45" stAng="10800000" swAng="-10800000"/>
                <a:lnTo>
                  <a:pt x="270" y="755"/>
                </a:lnTo>
                <a:arcTo wR="45" hR="45" stAng="10800000" swAng="10800000"/>
                <a:lnTo>
                  <a:pt x="360" y="925"/>
                </a:lnTo>
                <a:arcTo wR="45" hR="45" stAng="10800000" swAng="-10800000"/>
                <a:lnTo>
                  <a:pt x="450" y="755"/>
                </a:lnTo>
                <a:arcTo wR="45" hR="45" stAng="10800000" swAng="10800000"/>
                <a:lnTo>
                  <a:pt x="540" y="925"/>
                </a:lnTo>
                <a:arcTo wR="45" hR="45" stAng="10800000" swAng="-10800000"/>
                <a:lnTo>
                  <a:pt x="630" y="755"/>
                </a:lnTo>
                <a:arcTo wR="45" hR="45" stAng="10800000" swAng="10800000"/>
                <a:lnTo>
                  <a:pt x="720" y="925"/>
                </a:lnTo>
                <a:arcTo wR="45" hR="45" stAng="10800000" swAng="-10800000"/>
                <a:lnTo>
                  <a:pt x="810" y="755"/>
                </a:lnTo>
                <a:arcTo wR="45" hR="45" stAng="10800000" swAng="10800000"/>
                <a:lnTo>
                  <a:pt x="900" y="925"/>
                </a:lnTo>
                <a:arcTo wR="45" hR="45" stAng="10800000" swAng="-10800000"/>
                <a:lnTo>
                  <a:pt x="99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</a:ln>
        </p:spPr>
        <p:txBody>
          <a:bodyPr/>
          <a:lstStyle/>
          <a:p>
            <a:endParaRPr lang="el-GR"/>
          </a:p>
        </p:txBody>
      </p:sp>
      <p:sp>
        <p:nvSpPr>
          <p:cNvPr id="6" name="Καμπύλο αριστερό βέλος 5">
            <a:extLst>
              <a:ext uri="{FF2B5EF4-FFF2-40B4-BE49-F238E27FC236}">
                <a16:creationId xmlns:a16="http://schemas.microsoft.com/office/drawing/2014/main" id="{C6249B7E-9AEB-FECE-8D73-32E3C2C11E8F}"/>
              </a:ext>
            </a:extLst>
          </p:cNvPr>
          <p:cNvSpPr/>
          <p:nvPr/>
        </p:nvSpPr>
        <p:spPr>
          <a:xfrm rot="10800000">
            <a:off x="2334042" y="2364115"/>
            <a:ext cx="367630" cy="2885688"/>
          </a:xfrm>
          <a:prstGeom prst="curved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>
              <a:solidFill>
                <a:schemeClr val="tx1"/>
              </a:solidFill>
            </a:endParaRPr>
          </a:p>
        </p:txBody>
      </p:sp>
      <p:sp>
        <p:nvSpPr>
          <p:cNvPr id="16" name="Καμπύλο αριστερό βέλος 15">
            <a:extLst>
              <a:ext uri="{FF2B5EF4-FFF2-40B4-BE49-F238E27FC236}">
                <a16:creationId xmlns:a16="http://schemas.microsoft.com/office/drawing/2014/main" id="{33D7070D-0756-1043-673D-1DCA85C2F908}"/>
              </a:ext>
            </a:extLst>
          </p:cNvPr>
          <p:cNvSpPr/>
          <p:nvPr/>
        </p:nvSpPr>
        <p:spPr>
          <a:xfrm>
            <a:off x="5601241" y="2448933"/>
            <a:ext cx="367630" cy="2885688"/>
          </a:xfrm>
          <a:prstGeom prst="curved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dirty="0">
              <a:solidFill>
                <a:schemeClr val="tx1"/>
              </a:solidFill>
            </a:endParaRPr>
          </a:p>
        </p:txBody>
      </p:sp>
      <p:cxnSp>
        <p:nvCxnSpPr>
          <p:cNvPr id="18" name="Ευθύγραμμο βέλος σύνδεσης 17">
            <a:extLst>
              <a:ext uri="{FF2B5EF4-FFF2-40B4-BE49-F238E27FC236}">
                <a16:creationId xmlns:a16="http://schemas.microsoft.com/office/drawing/2014/main" id="{12767D90-F329-1804-39A3-2BFEB7A4B834}"/>
              </a:ext>
            </a:extLst>
          </p:cNvPr>
          <p:cNvCxnSpPr/>
          <p:nvPr/>
        </p:nvCxnSpPr>
        <p:spPr>
          <a:xfrm>
            <a:off x="3198388" y="4438184"/>
            <a:ext cx="0" cy="584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14BCFC8-3753-17B6-A790-80B2FC90269A}"/>
              </a:ext>
            </a:extLst>
          </p:cNvPr>
          <p:cNvSpPr txBox="1"/>
          <p:nvPr/>
        </p:nvSpPr>
        <p:spPr>
          <a:xfrm>
            <a:off x="3192244" y="4775676"/>
            <a:ext cx="639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leak</a:t>
            </a:r>
            <a:endParaRPr lang="el-GR" baseline="-25000" dirty="0"/>
          </a:p>
        </p:txBody>
      </p:sp>
      <p:cxnSp>
        <p:nvCxnSpPr>
          <p:cNvPr id="25" name="Ευθύγραμμο βέλος σύνδεσης 24">
            <a:extLst>
              <a:ext uri="{FF2B5EF4-FFF2-40B4-BE49-F238E27FC236}">
                <a16:creationId xmlns:a16="http://schemas.microsoft.com/office/drawing/2014/main" id="{BF69047F-D663-145A-40FD-B583678CE819}"/>
              </a:ext>
            </a:extLst>
          </p:cNvPr>
          <p:cNvCxnSpPr>
            <a:cxnSpLocks/>
          </p:cNvCxnSpPr>
          <p:nvPr/>
        </p:nvCxnSpPr>
        <p:spPr>
          <a:xfrm flipH="1" flipV="1">
            <a:off x="4897860" y="5064726"/>
            <a:ext cx="257721" cy="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C3B904E-DB6F-80DF-96C4-893F6CA7F589}"/>
              </a:ext>
            </a:extLst>
          </p:cNvPr>
          <p:cNvSpPr txBox="1"/>
          <p:nvPr/>
        </p:nvSpPr>
        <p:spPr>
          <a:xfrm>
            <a:off x="3057577" y="1570004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out</a:t>
            </a:r>
            <a:endParaRPr lang="el-GR" baseline="-25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C23CDD-EBE1-E9F1-1B60-17241DA7F329}"/>
              </a:ext>
            </a:extLst>
          </p:cNvPr>
          <p:cNvSpPr txBox="1"/>
          <p:nvPr/>
        </p:nvSpPr>
        <p:spPr>
          <a:xfrm>
            <a:off x="4197818" y="1566471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in</a:t>
            </a:r>
            <a:endParaRPr lang="el-GR" baseline="-25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EE83FA-8F03-D2C6-3A57-C7F1F9AA97B2}"/>
              </a:ext>
            </a:extLst>
          </p:cNvPr>
          <p:cNvSpPr txBox="1"/>
          <p:nvPr/>
        </p:nvSpPr>
        <p:spPr>
          <a:xfrm>
            <a:off x="2742425" y="4992950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</a:t>
            </a:r>
            <a:r>
              <a:rPr lang="en-US" baseline="-25000" dirty="0" err="1"/>
              <a:t>e</a:t>
            </a:r>
            <a:endParaRPr lang="el-GR" baseline="-25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7176E3-1254-A771-CE7E-C823B7807AE7}"/>
              </a:ext>
            </a:extLst>
          </p:cNvPr>
          <p:cNvSpPr txBox="1"/>
          <p:nvPr/>
        </p:nvSpPr>
        <p:spPr>
          <a:xfrm>
            <a:off x="2392906" y="5565443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a</a:t>
            </a:r>
            <a:endParaRPr lang="el-GR" baseline="-25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274DB2-6BC9-D457-3053-FF76AAB6351B}"/>
              </a:ext>
            </a:extLst>
          </p:cNvPr>
          <p:cNvSpPr txBox="1"/>
          <p:nvPr/>
        </p:nvSpPr>
        <p:spPr>
          <a:xfrm>
            <a:off x="2832865" y="4107416"/>
            <a:ext cx="6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i</a:t>
            </a:r>
            <a:endParaRPr lang="el-GR" baseline="-25000" dirty="0"/>
          </a:p>
        </p:txBody>
      </p:sp>
      <p:cxnSp>
        <p:nvCxnSpPr>
          <p:cNvPr id="33" name="Ευθεία γραμμή σύνδεσης 32">
            <a:extLst>
              <a:ext uri="{FF2B5EF4-FFF2-40B4-BE49-F238E27FC236}">
                <a16:creationId xmlns:a16="http://schemas.microsoft.com/office/drawing/2014/main" id="{DAA7C9C4-9406-5FF6-5A4C-352A76DBCAD8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2942188" y="4490428"/>
            <a:ext cx="569794" cy="6545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Ευθεία γραμμή σύνδεσης 33">
            <a:extLst>
              <a:ext uri="{FF2B5EF4-FFF2-40B4-BE49-F238E27FC236}">
                <a16:creationId xmlns:a16="http://schemas.microsoft.com/office/drawing/2014/main" id="{1BD405E2-927F-57E2-A7EC-D7542604CA3D}"/>
              </a:ext>
            </a:extLst>
          </p:cNvPr>
          <p:cNvCxnSpPr>
            <a:cxnSpLocks/>
          </p:cNvCxnSpPr>
          <p:nvPr/>
        </p:nvCxnSpPr>
        <p:spPr>
          <a:xfrm flipH="1">
            <a:off x="2951728" y="4490428"/>
            <a:ext cx="534637" cy="6545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C0953E0-0690-A233-899A-C3C29A5B2E70}"/>
              </a:ext>
            </a:extLst>
          </p:cNvPr>
          <p:cNvSpPr txBox="1"/>
          <p:nvPr/>
        </p:nvSpPr>
        <p:spPr>
          <a:xfrm>
            <a:off x="4021170" y="5074621"/>
            <a:ext cx="86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</a:t>
            </a:r>
            <a:r>
              <a:rPr lang="en-US" baseline="-25000" dirty="0" err="1"/>
              <a:t>heater</a:t>
            </a:r>
            <a:endParaRPr lang="el-GR" baseline="-25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0F035A-19CA-76B7-E57F-2BECB9D108CC}"/>
              </a:ext>
            </a:extLst>
          </p:cNvPr>
          <p:cNvSpPr txBox="1"/>
          <p:nvPr/>
        </p:nvSpPr>
        <p:spPr>
          <a:xfrm>
            <a:off x="4304149" y="4210204"/>
            <a:ext cx="86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</a:t>
            </a:r>
            <a:r>
              <a:rPr lang="en-US" baseline="-25000" dirty="0" err="1"/>
              <a:t>heater</a:t>
            </a:r>
            <a:endParaRPr lang="el-GR" baseline="-25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B549FB-73F5-A810-E1F1-11AB4492E90B}"/>
              </a:ext>
            </a:extLst>
          </p:cNvPr>
          <p:cNvSpPr txBox="1"/>
          <p:nvPr/>
        </p:nvSpPr>
        <p:spPr>
          <a:xfrm>
            <a:off x="4936833" y="5105934"/>
            <a:ext cx="86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</a:t>
            </a:r>
            <a:r>
              <a:rPr lang="en-US" baseline="-25000" dirty="0" err="1"/>
              <a:t>fan</a:t>
            </a:r>
            <a:endParaRPr lang="el-GR" baseline="-25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AF39D4-E3C1-B78B-E057-DA8CD202CDC2}"/>
              </a:ext>
            </a:extLst>
          </p:cNvPr>
          <p:cNvSpPr txBox="1"/>
          <p:nvPr/>
        </p:nvSpPr>
        <p:spPr>
          <a:xfrm>
            <a:off x="4540802" y="3226982"/>
            <a:ext cx="868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</a:t>
            </a:r>
            <a:r>
              <a:rPr lang="en-US" baseline="-25000" dirty="0" err="1"/>
              <a:t>fan</a:t>
            </a:r>
            <a:endParaRPr lang="el-GR" baseline="-25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56E809-2CEE-DD3D-8D8C-D04B27F29C81}"/>
              </a:ext>
            </a:extLst>
          </p:cNvPr>
          <p:cNvSpPr txBox="1"/>
          <p:nvPr/>
        </p:nvSpPr>
        <p:spPr>
          <a:xfrm>
            <a:off x="7636106" y="2075619"/>
            <a:ext cx="3623773" cy="17851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 Math" panose="02040503050406030204" pitchFamily="18" charset="0"/>
              </a:rPr>
              <a:t>Power Loss calculation</a:t>
            </a:r>
          </a:p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</a:t>
            </a:r>
            <a:r>
              <a:rPr lang="en-US" dirty="0"/>
              <a:t> =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</a:t>
            </a:r>
            <a:r>
              <a:rPr lang="en-US" dirty="0"/>
              <a:t> x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</a:t>
            </a:r>
            <a:r>
              <a:rPr lang="en-US" baseline="-25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</a:t>
            </a:r>
            <a:r>
              <a:rPr lang="en-US" dirty="0"/>
              <a:t> x </a:t>
            </a:r>
            <a:r>
              <a:rPr lang="el-GR" dirty="0">
                <a:solidFill>
                  <a:schemeClr val="accent2">
                    <a:lumMod val="75000"/>
                  </a:schemeClr>
                </a:solidFill>
              </a:rPr>
              <a:t>Δ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</a:t>
            </a:r>
            <a:r>
              <a:rPr lang="en-US" dirty="0"/>
              <a:t> = coolant mass flow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</a:t>
            </a:r>
            <a:r>
              <a:rPr lang="en-US" baseline="-25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</a:t>
            </a:r>
            <a:r>
              <a:rPr lang="en-US" dirty="0"/>
              <a:t> = coolant heat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dirty="0">
                <a:solidFill>
                  <a:schemeClr val="accent2">
                    <a:lumMod val="75000"/>
                  </a:schemeClr>
                </a:solidFill>
              </a:rPr>
              <a:t>Δ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 </a:t>
            </a:r>
            <a:r>
              <a:rPr lang="en-US" dirty="0"/>
              <a:t>= T</a:t>
            </a:r>
            <a:r>
              <a:rPr lang="en-US" baseline="-25000" dirty="0"/>
              <a:t>out</a:t>
            </a:r>
            <a:r>
              <a:rPr lang="en-US" dirty="0"/>
              <a:t> - T</a:t>
            </a:r>
            <a:r>
              <a:rPr lang="en-US" baseline="-25000" dirty="0"/>
              <a:t>in</a:t>
            </a:r>
            <a:endParaRPr lang="el-GR" baseline="-25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DFEA6D3-18F7-14F1-DA16-B6E17E3087C9}"/>
                  </a:ext>
                </a:extLst>
              </p:cNvPr>
              <p:cNvSpPr txBox="1"/>
              <p:nvPr/>
            </p:nvSpPr>
            <p:spPr>
              <a:xfrm>
                <a:off x="7575044" y="4491303"/>
                <a:ext cx="3267667" cy="2086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Cambria Math" panose="02040503050406030204" pitchFamily="18" charset="0"/>
                  </a:rPr>
                  <a:t>Coefficient of Performance</a:t>
                </a:r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or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1" i="1" smtClean="0">
                          <a:latin typeface="Cambria Math" panose="02040503050406030204" pitchFamily="18" charset="0"/>
                        </a:rPr>
                        <m:t>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DFEA6D3-18F7-14F1-DA16-B6E17E308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5044" y="4491303"/>
                <a:ext cx="3267667" cy="2086725"/>
              </a:xfrm>
              <a:prstGeom prst="rect">
                <a:avLst/>
              </a:prstGeom>
              <a:blipFill>
                <a:blip r:embed="rId2"/>
                <a:stretch>
                  <a:fillRect l="-1938" t="-1818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Ευθύγραμμο βέλος σύνδεσης 48">
            <a:extLst>
              <a:ext uri="{FF2B5EF4-FFF2-40B4-BE49-F238E27FC236}">
                <a16:creationId xmlns:a16="http://schemas.microsoft.com/office/drawing/2014/main" id="{C0182A32-6744-324B-2D42-E308E896F4C5}"/>
              </a:ext>
            </a:extLst>
          </p:cNvPr>
          <p:cNvCxnSpPr>
            <a:cxnSpLocks/>
          </p:cNvCxnSpPr>
          <p:nvPr/>
        </p:nvCxnSpPr>
        <p:spPr>
          <a:xfrm flipV="1">
            <a:off x="3237215" y="1969106"/>
            <a:ext cx="0" cy="2829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1" name="Ευθύγραμμο βέλος σύνδεσης 50">
            <a:extLst>
              <a:ext uri="{FF2B5EF4-FFF2-40B4-BE49-F238E27FC236}">
                <a16:creationId xmlns:a16="http://schemas.microsoft.com/office/drawing/2014/main" id="{E09ACA1A-6281-2003-ED40-BD0FEC6E0F58}"/>
              </a:ext>
            </a:extLst>
          </p:cNvPr>
          <p:cNvCxnSpPr>
            <a:cxnSpLocks/>
          </p:cNvCxnSpPr>
          <p:nvPr/>
        </p:nvCxnSpPr>
        <p:spPr>
          <a:xfrm>
            <a:off x="4487644" y="1969106"/>
            <a:ext cx="0" cy="2821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8" name="Ευθύγραμμο βέλος σύνδεσης 57">
            <a:extLst>
              <a:ext uri="{FF2B5EF4-FFF2-40B4-BE49-F238E27FC236}">
                <a16:creationId xmlns:a16="http://schemas.microsoft.com/office/drawing/2014/main" id="{97EC6E26-DB62-38F4-1659-A272839602F8}"/>
              </a:ext>
            </a:extLst>
          </p:cNvPr>
          <p:cNvCxnSpPr>
            <a:stCxn id="31" idx="3"/>
          </p:cNvCxnSpPr>
          <p:nvPr/>
        </p:nvCxnSpPr>
        <p:spPr>
          <a:xfrm flipH="1">
            <a:off x="3447898" y="4292082"/>
            <a:ext cx="2498" cy="1727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59" name="Ευθύγραμμο βέλος σύνδεσης 58">
            <a:extLst>
              <a:ext uri="{FF2B5EF4-FFF2-40B4-BE49-F238E27FC236}">
                <a16:creationId xmlns:a16="http://schemas.microsoft.com/office/drawing/2014/main" id="{F6AE3C53-EE30-D0DB-F941-996664A48BED}"/>
              </a:ext>
            </a:extLst>
          </p:cNvPr>
          <p:cNvCxnSpPr>
            <a:cxnSpLocks/>
          </p:cNvCxnSpPr>
          <p:nvPr/>
        </p:nvCxnSpPr>
        <p:spPr>
          <a:xfrm flipV="1">
            <a:off x="3728617" y="4292082"/>
            <a:ext cx="0" cy="1642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B665DA4-67F4-5BB0-57A9-6DDD5EB17F5B}"/>
              </a:ext>
            </a:extLst>
          </p:cNvPr>
          <p:cNvSpPr txBox="1"/>
          <p:nvPr/>
        </p:nvSpPr>
        <p:spPr>
          <a:xfrm>
            <a:off x="3111086" y="5991243"/>
            <a:ext cx="61753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</a:t>
            </a:r>
            <a:r>
              <a:rPr lang="en-US" baseline="-25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out</a:t>
            </a:r>
            <a:endParaRPr lang="el-GR" baseline="-25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0AEF960-0953-2544-78B3-61D516BCC36A}"/>
              </a:ext>
            </a:extLst>
          </p:cNvPr>
          <p:cNvSpPr txBox="1"/>
          <p:nvPr/>
        </p:nvSpPr>
        <p:spPr>
          <a:xfrm>
            <a:off x="3595079" y="5991243"/>
            <a:ext cx="617531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</a:t>
            </a:r>
            <a:r>
              <a:rPr lang="en-US" baseline="-25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</a:t>
            </a:r>
            <a:endParaRPr lang="el-GR" baseline="-25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F59355A-D53E-1692-7A2F-3C1DDBD6A23B}"/>
              </a:ext>
            </a:extLst>
          </p:cNvPr>
          <p:cNvSpPr txBox="1"/>
          <p:nvPr/>
        </p:nvSpPr>
        <p:spPr>
          <a:xfrm>
            <a:off x="4392544" y="6134468"/>
            <a:ext cx="741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i</a:t>
            </a:r>
            <a:r>
              <a:rPr lang="en-US" dirty="0"/>
              <a:t> &gt; T</a:t>
            </a:r>
            <a:r>
              <a:rPr lang="en-US" baseline="-25000" dirty="0"/>
              <a:t>a</a:t>
            </a:r>
            <a:endParaRPr lang="el-GR" baseline="-25000" dirty="0"/>
          </a:p>
        </p:txBody>
      </p:sp>
      <p:sp>
        <p:nvSpPr>
          <p:cNvPr id="71" name="Δεξιό βέλος 70">
            <a:extLst>
              <a:ext uri="{FF2B5EF4-FFF2-40B4-BE49-F238E27FC236}">
                <a16:creationId xmlns:a16="http://schemas.microsoft.com/office/drawing/2014/main" id="{FDEB0F7E-F124-71BE-C2C1-3FB1099FF456}"/>
              </a:ext>
            </a:extLst>
          </p:cNvPr>
          <p:cNvSpPr/>
          <p:nvPr/>
        </p:nvSpPr>
        <p:spPr>
          <a:xfrm>
            <a:off x="5258621" y="6294404"/>
            <a:ext cx="42538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67FC13-A7DD-6D9C-0BB0-71E6B7485477}"/>
              </a:ext>
            </a:extLst>
          </p:cNvPr>
          <p:cNvSpPr txBox="1"/>
          <p:nvPr/>
        </p:nvSpPr>
        <p:spPr>
          <a:xfrm>
            <a:off x="5808913" y="6134468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  <a:r>
              <a:rPr lang="en-US" baseline="-25000" dirty="0"/>
              <a:t>leak</a:t>
            </a:r>
            <a:endParaRPr lang="el-GR" baseline="-25000" dirty="0"/>
          </a:p>
        </p:txBody>
      </p:sp>
      <p:sp>
        <p:nvSpPr>
          <p:cNvPr id="73" name="Ορθογώνιο 72">
            <a:extLst>
              <a:ext uri="{FF2B5EF4-FFF2-40B4-BE49-F238E27FC236}">
                <a16:creationId xmlns:a16="http://schemas.microsoft.com/office/drawing/2014/main" id="{75AF4241-70F3-0201-0138-777163492687}"/>
              </a:ext>
            </a:extLst>
          </p:cNvPr>
          <p:cNvSpPr/>
          <p:nvPr/>
        </p:nvSpPr>
        <p:spPr>
          <a:xfrm>
            <a:off x="4392544" y="6105911"/>
            <a:ext cx="2013007" cy="39788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8BA66C0-3A23-E5AE-CF81-61358FACE819}"/>
              </a:ext>
            </a:extLst>
          </p:cNvPr>
          <p:cNvSpPr txBox="1"/>
          <p:nvPr/>
        </p:nvSpPr>
        <p:spPr>
          <a:xfrm>
            <a:off x="4392749" y="6120189"/>
            <a:ext cx="722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i</a:t>
            </a:r>
            <a:r>
              <a:rPr lang="en-US" dirty="0"/>
              <a:t> = </a:t>
            </a:r>
            <a:r>
              <a:rPr lang="en-US" dirty="0" err="1"/>
              <a:t>T</a:t>
            </a:r>
            <a:r>
              <a:rPr lang="en-US" baseline="-25000" dirty="0" err="1"/>
              <a:t>e</a:t>
            </a:r>
            <a:endParaRPr lang="el-GR" baseline="-25000" dirty="0"/>
          </a:p>
        </p:txBody>
      </p:sp>
      <p:cxnSp>
        <p:nvCxnSpPr>
          <p:cNvPr id="75" name="Ευθεία γραμμή σύνδεσης 74">
            <a:extLst>
              <a:ext uri="{FF2B5EF4-FFF2-40B4-BE49-F238E27FC236}">
                <a16:creationId xmlns:a16="http://schemas.microsoft.com/office/drawing/2014/main" id="{48EB35CA-9E40-282B-5073-3CB0461EF888}"/>
              </a:ext>
            </a:extLst>
          </p:cNvPr>
          <p:cNvCxnSpPr>
            <a:cxnSpLocks/>
          </p:cNvCxnSpPr>
          <p:nvPr/>
        </p:nvCxnSpPr>
        <p:spPr>
          <a:xfrm flipH="1">
            <a:off x="5903259" y="6175909"/>
            <a:ext cx="444669" cy="31361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Ευθύγραμμο βέλος σύνδεσης 80">
            <a:extLst>
              <a:ext uri="{FF2B5EF4-FFF2-40B4-BE49-F238E27FC236}">
                <a16:creationId xmlns:a16="http://schemas.microsoft.com/office/drawing/2014/main" id="{835E23F2-A6F6-E502-76B3-B0C1AA8B9BE0}"/>
              </a:ext>
            </a:extLst>
          </p:cNvPr>
          <p:cNvCxnSpPr>
            <a:cxnSpLocks/>
          </p:cNvCxnSpPr>
          <p:nvPr/>
        </p:nvCxnSpPr>
        <p:spPr>
          <a:xfrm>
            <a:off x="5036635" y="1794785"/>
            <a:ext cx="2825841" cy="1819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Έλλειψη 82">
            <a:extLst>
              <a:ext uri="{FF2B5EF4-FFF2-40B4-BE49-F238E27FC236}">
                <a16:creationId xmlns:a16="http://schemas.microsoft.com/office/drawing/2014/main" id="{B5F26525-48A5-68E1-E22F-4BEC819C1940}"/>
              </a:ext>
            </a:extLst>
          </p:cNvPr>
          <p:cNvSpPr/>
          <p:nvPr/>
        </p:nvSpPr>
        <p:spPr>
          <a:xfrm>
            <a:off x="2864005" y="1514611"/>
            <a:ext cx="1976339" cy="46849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84" name="Έλλειψη 83">
            <a:extLst>
              <a:ext uri="{FF2B5EF4-FFF2-40B4-BE49-F238E27FC236}">
                <a16:creationId xmlns:a16="http://schemas.microsoft.com/office/drawing/2014/main" id="{781FAE0A-913E-DC98-8349-0C3BCEEDB6E2}"/>
              </a:ext>
            </a:extLst>
          </p:cNvPr>
          <p:cNvSpPr/>
          <p:nvPr/>
        </p:nvSpPr>
        <p:spPr>
          <a:xfrm>
            <a:off x="8283704" y="3480387"/>
            <a:ext cx="1057301" cy="38033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87" name="Ευθύγραμμο βέλος σύνδεσης 86">
            <a:extLst>
              <a:ext uri="{FF2B5EF4-FFF2-40B4-BE49-F238E27FC236}">
                <a16:creationId xmlns:a16="http://schemas.microsoft.com/office/drawing/2014/main" id="{444E032C-ED53-8DF7-BE42-B907767CAC14}"/>
              </a:ext>
            </a:extLst>
          </p:cNvPr>
          <p:cNvCxnSpPr>
            <a:cxnSpLocks/>
          </p:cNvCxnSpPr>
          <p:nvPr/>
        </p:nvCxnSpPr>
        <p:spPr>
          <a:xfrm flipV="1">
            <a:off x="4046654" y="5991243"/>
            <a:ext cx="4346232" cy="1146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9" name="Έλλειψη 88">
            <a:extLst>
              <a:ext uri="{FF2B5EF4-FFF2-40B4-BE49-F238E27FC236}">
                <a16:creationId xmlns:a16="http://schemas.microsoft.com/office/drawing/2014/main" id="{F915097F-FFB3-2F5D-0D41-2055FEF6F1CC}"/>
              </a:ext>
            </a:extLst>
          </p:cNvPr>
          <p:cNvSpPr/>
          <p:nvPr/>
        </p:nvSpPr>
        <p:spPr>
          <a:xfrm rot="20296214">
            <a:off x="8991600" y="5565443"/>
            <a:ext cx="642257" cy="82368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0" name="Έλλειψη 89">
            <a:extLst>
              <a:ext uri="{FF2B5EF4-FFF2-40B4-BE49-F238E27FC236}">
                <a16:creationId xmlns:a16="http://schemas.microsoft.com/office/drawing/2014/main" id="{13F75948-87B4-7B4E-BBE3-4FE9C3224F2B}"/>
              </a:ext>
            </a:extLst>
          </p:cNvPr>
          <p:cNvSpPr/>
          <p:nvPr/>
        </p:nvSpPr>
        <p:spPr>
          <a:xfrm>
            <a:off x="3675108" y="5991243"/>
            <a:ext cx="346062" cy="34888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1" name="Έλλειψη 90">
            <a:extLst>
              <a:ext uri="{FF2B5EF4-FFF2-40B4-BE49-F238E27FC236}">
                <a16:creationId xmlns:a16="http://schemas.microsoft.com/office/drawing/2014/main" id="{760D886E-889E-63F1-1483-8168D8663880}"/>
              </a:ext>
            </a:extLst>
          </p:cNvPr>
          <p:cNvSpPr/>
          <p:nvPr/>
        </p:nvSpPr>
        <p:spPr>
          <a:xfrm>
            <a:off x="3194498" y="5977287"/>
            <a:ext cx="382063" cy="369332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cxnSp>
        <p:nvCxnSpPr>
          <p:cNvPr id="93" name="Ευθύγραμμο βέλος σύνδεσης 92">
            <a:extLst>
              <a:ext uri="{FF2B5EF4-FFF2-40B4-BE49-F238E27FC236}">
                <a16:creationId xmlns:a16="http://schemas.microsoft.com/office/drawing/2014/main" id="{DC643DBB-C6E1-236C-DBAB-D7A7AECCC45F}"/>
              </a:ext>
            </a:extLst>
          </p:cNvPr>
          <p:cNvCxnSpPr>
            <a:cxnSpLocks/>
          </p:cNvCxnSpPr>
          <p:nvPr/>
        </p:nvCxnSpPr>
        <p:spPr>
          <a:xfrm flipV="1">
            <a:off x="3540392" y="5334621"/>
            <a:ext cx="4994008" cy="600154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Έλλειψη 93">
            <a:extLst>
              <a:ext uri="{FF2B5EF4-FFF2-40B4-BE49-F238E27FC236}">
                <a16:creationId xmlns:a16="http://schemas.microsoft.com/office/drawing/2014/main" id="{6C8D0A8A-376B-3D46-688E-F34B63901D61}"/>
              </a:ext>
            </a:extLst>
          </p:cNvPr>
          <p:cNvSpPr/>
          <p:nvPr/>
        </p:nvSpPr>
        <p:spPr>
          <a:xfrm rot="2080108">
            <a:off x="8979582" y="4713893"/>
            <a:ext cx="581558" cy="893071"/>
          </a:xfrm>
          <a:prstGeom prst="ellips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19957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00"/>
                            </p:stCondLst>
                            <p:childTnLst>
                              <p:par>
                                <p:cTn id="18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1000"/>
                            </p:stCondLst>
                            <p:childTnLst>
                              <p:par>
                                <p:cTn id="19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500"/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0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00"/>
                            </p:stCondLst>
                            <p:childTnLst>
                              <p:par>
                                <p:cTn id="2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000"/>
                            </p:stCondLst>
                            <p:childTnLst>
                              <p:par>
                                <p:cTn id="2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/>
      <p:bldP spid="10" grpId="0" animBg="1"/>
      <p:bldP spid="11" grpId="0" animBg="1"/>
      <p:bldP spid="13" grpId="0" animBg="1"/>
      <p:bldP spid="14" grpId="0" animBg="1"/>
      <p:bldP spid="21" grpId="0" animBg="1"/>
      <p:bldP spid="22" grpId="0" animBg="1"/>
      <p:bldP spid="12" grpId="0" animBg="1"/>
      <p:bldP spid="15" grpId="0" animBg="1"/>
      <p:bldP spid="23" grpId="0" animBg="1"/>
      <p:bldP spid="6" grpId="0" animBg="1"/>
      <p:bldP spid="16" grpId="0" animBg="1"/>
      <p:bldP spid="20" grpId="0"/>
      <p:bldP spid="27" grpId="0"/>
      <p:bldP spid="28" grpId="0"/>
      <p:bldP spid="29" grpId="0"/>
      <p:bldP spid="30" grpId="0"/>
      <p:bldP spid="31" grpId="0"/>
      <p:bldP spid="40" grpId="0"/>
      <p:bldP spid="41" grpId="0"/>
      <p:bldP spid="42" grpId="0"/>
      <p:bldP spid="43" grpId="0"/>
      <p:bldP spid="66" grpId="0"/>
      <p:bldP spid="68" grpId="0"/>
      <p:bldP spid="70" grpId="0"/>
      <p:bldP spid="70" grpId="1"/>
      <p:bldP spid="71" grpId="0" animBg="1"/>
      <p:bldP spid="72" grpId="0"/>
      <p:bldP spid="73" grpId="0" animBg="1"/>
      <p:bldP spid="74" grpId="0"/>
      <p:bldP spid="83" grpId="0" animBg="1"/>
      <p:bldP spid="84" grpId="0" animBg="1"/>
      <p:bldP spid="89" grpId="0" animBg="1"/>
      <p:bldP spid="90" grpId="0" animBg="1"/>
      <p:bldP spid="91" grpId="0" animBg="1"/>
      <p:bldP spid="9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8E6FF2F-FA24-DA2E-CA47-120F44B38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 Differences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771564091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22C7B2-0009-2443-83EF-6777EFF2BF9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f45157d-80d9-470a-919c-51b247394ea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</TotalTime>
  <Words>63</Words>
  <Application>Microsoft Macintosh PowerPoint</Application>
  <PresentationFormat>Ευρεία οθόνη</PresentationFormat>
  <Paragraphs>28</Paragraphs>
  <Slides>2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Θέμα του Office</vt:lpstr>
      <vt:lpstr>Double Jacket Chamber</vt:lpstr>
      <vt:lpstr>Topology Differences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Vasilis Gkionis</dc:creator>
  <cp:lastModifiedBy>Vasilis Gkionis</cp:lastModifiedBy>
  <cp:revision>38</cp:revision>
  <dcterms:created xsi:type="dcterms:W3CDTF">2026-07-03T06:13:18Z</dcterms:created>
  <dcterms:modified xsi:type="dcterms:W3CDTF">2026-07-03T12:37:02Z</dcterms:modified>
</cp:coreProperties>
</file>